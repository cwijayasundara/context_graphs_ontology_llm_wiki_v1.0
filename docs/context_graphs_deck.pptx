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One-line framing: most enterprises today have either (a) a pile of vector-indexed PDFs they call "RAG" or (b) a hand-curated knowledge graph nobody trusts. We propose a third architecture that combines the best of three industry patterns and produces something neither RAG nor a graph alone can deliver: an auditable, typed, governable substrate for agentic LLMs.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deck has one job: convince the exec that "RAG over our SharePoint" is not the right mental model for the next 3 years, and that this fused architecture is. The numbers are real and load-bearing. Mention: the gap is widest exactly where enterprise queries live — schema-bound, multi-entity, time-bounded.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Don't disparage RAG — most enterprises started there for good reason. The point is that the next class of asks (structured, multi-hop, audited, time-bounded) needs a different substrate. The 80/15/5 split (simple lookup / structured reasoning / agentic) is roughly the consensus production pattern in 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pattern is real and shipping. Karpathy's LLM Wiki gist (Apr 2026, ~50k+ stars) — quality gate before storage &gt; retrieval improvements. TrustGraph — "Context Operating System for AI"; PROV-O reasoning traces. Palantir Foundry/AIP — Ontology System; "digital twin of the organization." Our contribution: fuse them so the wiki is canonical, the graph is regenerable, and the ontology is the contract.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mutability rule is the architectural insight. RAG systems collapse into chaos because there's no canonical layer — the index is the source of truth, and rebuilding it is expensive. Here the wiki is plain markdown in git. Auditable, diffable, mergeable, and small enough to read end-to-end. Everything else is regenerable infrastructure.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credibility slide. Every rule on this page is implemented in code today, not aspirational. Auditors and security people lean in here. The point: a layered architecture is a design diagram — guardrails are what make it survive contact with a real org. Walk the row, point to the file each rule lives in. The deck explicitly names the enforcer file in each card.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where finance/compliance/ops people lean in. Each row is a real business capability they've been buying point solutions for. We deliver them on one substrate. The Memo Engine is not a toy — it's the demonstration that the architecture composes.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thesis isn't "we invented this." The thesis is: the three patterns we fuse are independently validated by Microsoft, Palantir, the Karpathy/Obsidian community, TrustGraph, and the FAANG ML platforms. Our specific contribution is: the layered, regenerable, ontology-gated architecture that makes them composable in one repo with one team owning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Pick the use case that matches the audience. For a CIO of a bank: A. For a CFO/strategy lead: B. For a CRO/COO: C. They all run on the same wiki + graph + ontology. That's the multiplier — one platform investment, multiple business outcomes.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goal is to ship a real use case in 90 days, not to build the whole platform first. Tier-1 controls handle the first ~6 months. The ladder is your scaling story for the exec — we know how to scale this because we know what to add at each break point. That's the credibility lever.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ask, not the technology. Three resources, one named use case, one sponsor. If the room doesn't have a named use case yet, do not leave without scheduling the workshop to find one — the platform without a business outcome is a vanity project. Every metric on the KPI list is observable in this repo today (linter, audit log, retrieval traces, memo trace artifacts). Nothing on this slide is aspirational — it's all instrumented.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Citations consolidated for handout / follow-up. Each link is in the source markdown deck (docs/context_graphs_deck.md → Appendix).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743200" y="-1828800"/>
            <a:ext cx="7315200" cy="7315200"/>
          </a:xfrm>
          <a:prstGeom prst="ellipse">
            <a:avLst/>
          </a:prstGeom>
          <a:solidFill>
            <a:srgbClr val="065A82">
              <a:alpha val="30000"/>
            </a:srgbClr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34095" y="2286000"/>
            <a:ext cx="7315200" cy="7315200"/>
          </a:xfrm>
          <a:prstGeom prst="ellipse">
            <a:avLst/>
          </a:prstGeom>
          <a:solidFill>
            <a:srgbClr val="1C7293">
              <a:alpha val="20000"/>
            </a:srgbClr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8229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8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 DECK   ·   MAY 2026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31520" y="1371600"/>
            <a:ext cx="45720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600200"/>
            <a:ext cx="10972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Context Graphs</a:t>
            </a:r>
            <a:endParaRPr lang="en-US" sz="6400" dirty="0"/>
          </a:p>
        </p:txBody>
      </p:sp>
      <p:sp>
        <p:nvSpPr>
          <p:cNvPr id="7" name="Text 5"/>
          <p:cNvSpPr/>
          <p:nvPr/>
        </p:nvSpPr>
        <p:spPr>
          <a:xfrm>
            <a:off x="731520" y="28803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BDD3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Typed Knowledge for Enterprise AI Agents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731520" y="3611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CB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Karpathy LLM Wiki + TrustGraph Context Graph + Palantir Ontology — fused into one stack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31520" y="4983480"/>
            <a:ext cx="5029200" cy="1188720"/>
          </a:xfrm>
          <a:prstGeom prst="rect">
            <a:avLst/>
          </a:prstGeom>
          <a:solidFill>
            <a:srgbClr val="1A325E"/>
          </a:solidFill>
          <a:ln w="6350">
            <a:solidFill>
              <a:srgbClr val="29406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4983480"/>
            <a:ext cx="73152" cy="1188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50749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9CB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960120" y="53492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CTO  ·  CIO  ·  Head of AI Platform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60120" y="5760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BDD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One-day brief  ·  12-slide executive summary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680960" y="4983480"/>
            <a:ext cx="3840480" cy="365760"/>
          </a:xfrm>
          <a:prstGeom prst="rect">
            <a:avLst/>
          </a:prstGeom>
          <a:solidFill>
            <a:srgbClr val="1A325E"/>
          </a:solidFill>
          <a:ln w="6350">
            <a:solidFill>
              <a:srgbClr val="29406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680960" y="4983480"/>
            <a:ext cx="73152" cy="365760"/>
          </a:xfrm>
          <a:prstGeom prst="rect">
            <a:avLst/>
          </a:prstGeom>
          <a:solidFill>
            <a:srgbClr val="F59E0B"/>
          </a:solidFill>
          <a:ln w="12700">
            <a:solidFill>
              <a:srgbClr val="29406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909560" y="502005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L4  Agents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9372600" y="502920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D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agents · audit-logged actions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680960" y="5394960"/>
            <a:ext cx="3840480" cy="365760"/>
          </a:xfrm>
          <a:prstGeom prst="rect">
            <a:avLst/>
          </a:prstGeom>
          <a:solidFill>
            <a:srgbClr val="1A325E"/>
          </a:solidFill>
          <a:ln w="6350">
            <a:solidFill>
              <a:srgbClr val="29406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680960" y="5394960"/>
            <a:ext cx="73152" cy="365760"/>
          </a:xfrm>
          <a:prstGeom prst="rect">
            <a:avLst/>
          </a:prstGeom>
          <a:solidFill>
            <a:srgbClr val="1C7293"/>
          </a:solidFill>
          <a:ln w="12700">
            <a:solidFill>
              <a:srgbClr val="29406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09560" y="543153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L3  Ontology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9372600" y="544068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D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Object · 14 Link · 6 Action types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680960" y="5806440"/>
            <a:ext cx="3840480" cy="365760"/>
          </a:xfrm>
          <a:prstGeom prst="rect">
            <a:avLst/>
          </a:prstGeom>
          <a:solidFill>
            <a:srgbClr val="1A325E"/>
          </a:solidFill>
          <a:ln w="6350">
            <a:solidFill>
              <a:srgbClr val="29406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680960" y="5806440"/>
            <a:ext cx="73152" cy="365760"/>
          </a:xfrm>
          <a:prstGeom prst="rect">
            <a:avLst/>
          </a:prstGeom>
          <a:solidFill>
            <a:srgbClr val="5EEAD4"/>
          </a:solidFill>
          <a:ln w="12700">
            <a:solidFill>
              <a:srgbClr val="29406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909560" y="584301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L1  Wiki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9372600" y="585216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D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484 pages · git-versioned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02  ·  EXECUTIVE SUMMARY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64008" cy="59436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713232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answer-the-question to do-the-work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783080"/>
            <a:ext cx="365760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5400000">
              <a:srgbClr val="0F172A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783080"/>
            <a:ext cx="3657600" cy="9144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203911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86% vs 32%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685800" y="2862072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GraphRAG vs vector RAG accuracy on multi-hop questions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85800" y="341071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Diffbot KG-LM benchmark, 2025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297680" y="1783080"/>
            <a:ext cx="365760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5400000">
              <a:srgbClr val="0F172A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297680" y="1783080"/>
            <a:ext cx="3657600" cy="91440"/>
          </a:xfrm>
          <a:prstGeom prst="rect">
            <a:avLst/>
          </a:prstGeom>
          <a:solidFill>
            <a:srgbClr val="0E7C8C"/>
          </a:solidFill>
          <a:ln w="12700">
            <a:solidFill>
              <a:srgbClr val="0E7C8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26280" y="203911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E7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−63%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4526280" y="2862072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 ticket resolution time with KG-augmented retrieval (40h → 15h)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4526280" y="341071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 / Neo4j case study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8138160" y="1783080"/>
            <a:ext cx="365760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5400000">
              <a:srgbClr val="0F172A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138160" y="1783080"/>
            <a:ext cx="3657600" cy="914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66760" y="203911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85%</a:t>
            </a:r>
            <a:endParaRPr lang="en-US" sz="4400" dirty="0"/>
          </a:p>
        </p:txBody>
      </p:sp>
      <p:sp>
        <p:nvSpPr>
          <p:cNvPr id="18" name="Text 16"/>
          <p:cNvSpPr/>
          <p:nvPr/>
        </p:nvSpPr>
        <p:spPr>
          <a:xfrm>
            <a:off x="8366760" y="2862072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Enterprises projected to run hybrid (vector + graph) retrieval by end of 2026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8366760" y="341071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Gartner / industry surveys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57200" y="4023360"/>
            <a:ext cx="5532120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5400000">
              <a:srgbClr val="0F172A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57200" y="4023360"/>
            <a:ext cx="73152" cy="219456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5800" y="41148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SHIFT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85800" y="4416552"/>
            <a:ext cx="51206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AI moved from "answer-the-question" to "do-the-work." Agents now propose actions on real systems. RAG alone cannot survive that bar — provenance, types, and governed write-back are the new baseline.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6199632" y="4023360"/>
            <a:ext cx="5532120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5400000">
              <a:srgbClr val="0F172A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199632" y="4023360"/>
            <a:ext cx="73152" cy="21945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28232" y="41148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PROPOSAL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428232" y="4416552"/>
            <a:ext cx="51206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layered context architecture: wiki is canonical, graph is derived, ontology is the schema contract, and the action server is the only mutation surface. One platform investment powers Q&amp;A, compliance, decision memos, and operational automation.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457200" y="6446520"/>
            <a:ext cx="11277295" cy="10973"/>
          </a:xfrm>
          <a:prstGeom prst="rect">
            <a:avLst/>
          </a:prstGeom>
          <a:solidFill>
            <a:srgbClr val="E2E8F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Graphs  ·  Typed Knowledge for Enterprise AI Agents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0362895" y="65105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12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11624767" y="6565392"/>
            <a:ext cx="91440" cy="914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03  ·  THE WALL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64008" cy="59436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713232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vector RAG alone hits a ceiling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691640"/>
            <a:ext cx="11274552" cy="38404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700784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Capability the business asks for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349240" y="1700784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RAG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040880" y="1700784"/>
            <a:ext cx="4526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fails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075688"/>
            <a:ext cx="11274552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" y="2075688"/>
            <a:ext cx="4389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"Find every contract that touches GDPR"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212080" y="2075688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44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✗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040880" y="2075688"/>
            <a:ext cx="4526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type system; cosine similarity is not a filter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514600"/>
            <a:ext cx="11274552" cy="438912"/>
          </a:xfrm>
          <a:prstGeom prst="rect">
            <a:avLst/>
          </a:prstGeom>
          <a:solidFill>
            <a:srgbClr val="EEF4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2514600"/>
            <a:ext cx="4389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"Compare Q4 numbers across our 3 reports"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212080" y="2514600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44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✗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040880" y="2514600"/>
            <a:ext cx="4526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cross-document aggregation; no entity coreference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2953512"/>
            <a:ext cx="11274552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4360" y="2953512"/>
            <a:ext cx="4389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"Which decisions still depend on this retracted source?"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212080" y="2953512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44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✗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7040880" y="2953512"/>
            <a:ext cx="4526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provenance graph; chunks have no lineage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3392424"/>
            <a:ext cx="11274552" cy="438912"/>
          </a:xfrm>
          <a:prstGeom prst="rect">
            <a:avLst/>
          </a:prstGeom>
          <a:solidFill>
            <a:srgbClr val="EEF4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" y="3392424"/>
            <a:ext cx="4389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"Why did the agent take this action?"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212080" y="3392424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44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✗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040880" y="3392424"/>
            <a:ext cx="4526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reasoning trace; embedding scores are not citations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7200" y="3831336"/>
            <a:ext cx="11274552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" y="3831336"/>
            <a:ext cx="4389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"Is this fact still true as of last quarter?"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212080" y="3831336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44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✗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7040880" y="3831336"/>
            <a:ext cx="4526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temporal model; embeddings are a-temporal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57200" y="4526280"/>
            <a:ext cx="7315200" cy="1645920"/>
          </a:xfrm>
          <a:prstGeom prst="rect">
            <a:avLst/>
          </a:prstGeom>
          <a:solidFill>
            <a:srgbClr val="0F1F3D"/>
          </a:solidFill>
          <a:ln w="12700">
            <a:solidFill>
              <a:srgbClr val="0F1F3D"/>
            </a:solidFill>
            <a:prstDash val="solid"/>
          </a:ln>
          <a:effectLst>
            <a:outerShdw sx="100000" sy="100000" kx="0" ky="0" algn="bl" rotWithShape="0" blurRad="127000" dist="25400" dir="5400000">
              <a:srgbClr val="0F172A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57200" y="4526280"/>
            <a:ext cx="91440" cy="16459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3232" y="46177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CONCRETE BENCHMARK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713232" y="4956048"/>
            <a:ext cx="6446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DD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schema-bound enterprise questions (KPIs, aggregations, strategic-planning entities), </a:t>
            </a:r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RAG drops to 0% accuracy</a:t>
            </a:r>
            <a:pPr indent="0" marL="0">
              <a:buNone/>
            </a:pPr>
            <a:r>
              <a:rPr lang="en-US" sz="1600" dirty="0">
                <a:solidFill>
                  <a:srgbClr val="BDD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while </a:t>
            </a:r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GraphRAG sustains 90%+</a:t>
            </a:r>
            <a:pPr indent="0" marL="0">
              <a:buNone/>
            </a:pPr>
            <a:r>
              <a:rPr lang="en-US" sz="1600" dirty="0">
                <a:solidFill>
                  <a:srgbClr val="BDD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713232" y="5852160"/>
            <a:ext cx="6446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CB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Diffbot KG-LM benchmark, 2025  ·  FalkorDB SDK, 2025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7955280" y="4526280"/>
            <a:ext cx="3776472" cy="1645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5400000">
              <a:srgbClr val="0F172A">
                <a:alpha val="1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7955280" y="4526280"/>
            <a:ext cx="73152" cy="164592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156448" y="461772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VECTOR RAG STILL WINS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156448" y="4919472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0B98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~80%</a:t>
            </a:r>
            <a:endParaRPr lang="en-US" sz="3600" dirty="0"/>
          </a:p>
        </p:txBody>
      </p:sp>
      <p:sp>
        <p:nvSpPr>
          <p:cNvPr id="38" name="Text 36"/>
          <p:cNvSpPr/>
          <p:nvPr/>
        </p:nvSpPr>
        <p:spPr>
          <a:xfrm>
            <a:off x="8156448" y="553212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simple semantic lookups — keep it as the recall layer.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457200" y="6446520"/>
            <a:ext cx="11277295" cy="10973"/>
          </a:xfrm>
          <a:prstGeom prst="rect">
            <a:avLst/>
          </a:prstGeom>
          <a:solidFill>
            <a:srgbClr val="E2E8F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Graphs  ·  Typed Knowledge for Enterprise AI Agents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10362895" y="65105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12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11624767" y="6565392"/>
            <a:ext cx="91440" cy="914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04  ·  THE ARCHITECTURE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64008" cy="59436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713232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industry patterns, fused into one stack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783080"/>
            <a:ext cx="3721608" cy="30175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5400000">
              <a:srgbClr val="0F172A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783080"/>
            <a:ext cx="3721608" cy="77724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874520"/>
            <a:ext cx="3264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Karpathy LLM Wiki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85800" y="2240280"/>
            <a:ext cx="3264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EAF2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CANONICAL KNOWLEDGE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31520" y="2715768"/>
            <a:ext cx="3218688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Markdown + frontmatter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LLM-maintained pages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gate at write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Compounds over time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361688" y="1783080"/>
            <a:ext cx="3721608" cy="30175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5400000">
              <a:srgbClr val="0F172A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61688" y="1783080"/>
            <a:ext cx="3721608" cy="777240"/>
          </a:xfrm>
          <a:prstGeom prst="rect">
            <a:avLst/>
          </a:prstGeom>
          <a:solidFill>
            <a:srgbClr val="0E7C8C"/>
          </a:solidFill>
          <a:ln w="12700">
            <a:solidFill>
              <a:srgbClr val="0E7C8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90288" y="1874520"/>
            <a:ext cx="3264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TrustGraph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90288" y="2240280"/>
            <a:ext cx="3264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EAF2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GRAPH — DERIVED VIEW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636008" y="2715768"/>
            <a:ext cx="3218688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Typed nodes + edges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4-level provenance chain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PROV-O reasoning traces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Hallucinations measurably down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266176" y="1783080"/>
            <a:ext cx="3721608" cy="30175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5400000">
              <a:srgbClr val="0F172A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266176" y="1783080"/>
            <a:ext cx="3721608" cy="7772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94776" y="1874520"/>
            <a:ext cx="3264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Palantir Ontology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494776" y="2240280"/>
            <a:ext cx="3264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EAF2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+ ACTIONS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540496" y="2715768"/>
            <a:ext cx="3218688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 · Link · Action types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Scoped, audited writes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twin of the org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+ kinetic layer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2180844" y="48463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BD5E1"/>
                </a:solidFill>
              </a:rPr>
              <a:t>▼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085332" y="48463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BD5E1"/>
                </a:solidFill>
              </a:rPr>
              <a:t>▼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989820" y="48463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BD5E1"/>
                </a:solidFill>
              </a:rPr>
              <a:t>▼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57200" y="5212080"/>
            <a:ext cx="11274552" cy="1005840"/>
          </a:xfrm>
          <a:prstGeom prst="rect">
            <a:avLst/>
          </a:prstGeom>
          <a:solidFill>
            <a:srgbClr val="0F1F3D"/>
          </a:solidFill>
          <a:ln w="12700">
            <a:solidFill>
              <a:srgbClr val="0F1F3D"/>
            </a:solidFill>
            <a:prstDash val="solid"/>
          </a:ln>
          <a:effectLst>
            <a:outerShdw sx="100000" sy="100000" kx="0" ky="0" algn="bl" rotWithShape="0" blurRad="127000" dist="25400" dir="5400000">
              <a:srgbClr val="0F172A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57200" y="5212080"/>
            <a:ext cx="91440" cy="10058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13232" y="5285232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Context Graphs — one stack, three contracts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713232" y="57607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DD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 canonical</a:t>
            </a:r>
            <a:pPr indent="0" marL="0">
              <a:buNone/>
            </a:pPr>
            <a:r>
              <a:rPr lang="en-US" sz="1300" dirty="0">
                <a:solidFill>
                  <a:srgbClr val="5A7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1300" b="1" dirty="0">
                <a:solidFill>
                  <a:srgbClr val="BDD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derived</a:t>
            </a:r>
            <a:pPr indent="0" marL="0">
              <a:buNone/>
            </a:pPr>
            <a:r>
              <a:rPr lang="en-US" sz="1300" dirty="0">
                <a:solidFill>
                  <a:srgbClr val="5A7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1300" b="1" dirty="0">
                <a:solidFill>
                  <a:srgbClr val="BDD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Ontology gates writes</a:t>
            </a:r>
            <a:pPr indent="0" marL="0">
              <a:buNone/>
            </a:pPr>
            <a:r>
              <a:rPr lang="en-US" sz="1300" i="1" dirty="0">
                <a:solidFill>
                  <a:srgbClr val="9CB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wiki alone has no typed query, graph alone is brittle, ontology without data is paper.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457200" y="6446520"/>
            <a:ext cx="11277295" cy="10973"/>
          </a:xfrm>
          <a:prstGeom prst="rect">
            <a:avLst/>
          </a:prstGeom>
          <a:solidFill>
            <a:srgbClr val="29406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B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Graphs  ·  Typed Knowledge for Enterprise AI Agents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0362895" y="65105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B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12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11624767" y="6565392"/>
            <a:ext cx="91440" cy="914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05  ·  ARCHITECTURE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64008" cy="59436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713232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Six layers, one mutability rule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783080"/>
            <a:ext cx="7040880" cy="557784"/>
          </a:xfrm>
          <a:prstGeom prst="rect">
            <a:avLst/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783080"/>
            <a:ext cx="777240" cy="557784"/>
          </a:xfrm>
          <a:prstGeom prst="rect">
            <a:avLst/>
          </a:prstGeom>
          <a:solidFill>
            <a:srgbClr val="0F1F3D"/>
          </a:solidFill>
          <a:ln w="12700">
            <a:solidFill>
              <a:srgbClr val="0F1F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783080"/>
            <a:ext cx="7772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L4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325880" y="1828800"/>
            <a:ext cx="146304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agents/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834640" y="1828800"/>
            <a:ext cx="201168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agents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846320" y="1828800"/>
            <a:ext cx="260604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DeepAgent + action_server (scoped, audited)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377440"/>
            <a:ext cx="7040880" cy="557784"/>
          </a:xfrm>
          <a:prstGeom prst="rect">
            <a:avLst/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377440"/>
            <a:ext cx="777240" cy="55778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2377440"/>
            <a:ext cx="7772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325880" y="2423160"/>
            <a:ext cx="146304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ontology/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834640" y="2423160"/>
            <a:ext cx="201168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Obj · 14 Link · 6 Action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46320" y="2423160"/>
            <a:ext cx="260604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ontology first — back-fill L1 after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2971800"/>
            <a:ext cx="7040880" cy="557784"/>
          </a:xfrm>
          <a:prstGeom prst="rect">
            <a:avLst/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2971800"/>
            <a:ext cx="777240" cy="557784"/>
          </a:xfrm>
          <a:prstGeom prst="rect">
            <a:avLst/>
          </a:prstGeom>
          <a:solidFill>
            <a:srgbClr val="0E7C8C"/>
          </a:solidFill>
          <a:ln w="12700">
            <a:solidFill>
              <a:srgbClr val="0E7C8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2971800"/>
            <a:ext cx="7772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L2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325880" y="3017520"/>
            <a:ext cx="146304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graph/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2834640" y="3017520"/>
            <a:ext cx="201168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kuzu.db + audit.jsonl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846320" y="3017520"/>
            <a:ext cx="260604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Regenerated from L1 — never hand-edited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3566160"/>
            <a:ext cx="7040880" cy="557784"/>
          </a:xfrm>
          <a:prstGeom prst="rect">
            <a:avLst/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57200" y="3566160"/>
            <a:ext cx="777240" cy="55778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7200" y="3566160"/>
            <a:ext cx="7772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L1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325880" y="3611880"/>
            <a:ext cx="146304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wiki/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2834640" y="3611880"/>
            <a:ext cx="201168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484 pages (207·251·13)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846320" y="3611880"/>
            <a:ext cx="260604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Canonical knowledge layer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57200" y="4160520"/>
            <a:ext cx="7040880" cy="557784"/>
          </a:xfrm>
          <a:prstGeom prst="rect">
            <a:avLst/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57200" y="4160520"/>
            <a:ext cx="777240" cy="557784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57200" y="4160520"/>
            <a:ext cx="7772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L0.5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1325880" y="4206240"/>
            <a:ext cx="146304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parsed/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2834640" y="4206240"/>
            <a:ext cx="201168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cached parses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846320" y="4206240"/>
            <a:ext cx="260604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Derived from L0 — re-parse, never edit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57200" y="4754880"/>
            <a:ext cx="7040880" cy="557784"/>
          </a:xfrm>
          <a:prstGeom prst="rect">
            <a:avLst/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57200" y="4754880"/>
            <a:ext cx="777240" cy="557784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57200" y="4754880"/>
            <a:ext cx="7772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L0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1325880" y="4800600"/>
            <a:ext cx="146304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raw/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2834640" y="4800600"/>
            <a:ext cx="201168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source artifacts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4846320" y="4800600"/>
            <a:ext cx="260604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Immutable — LLM reads only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7680960" y="1783080"/>
            <a:ext cx="4050792" cy="2194560"/>
          </a:xfrm>
          <a:prstGeom prst="rect">
            <a:avLst/>
          </a:prstGeom>
          <a:solidFill>
            <a:srgbClr val="0F1F3D"/>
          </a:solidFill>
          <a:ln w="12700">
            <a:solidFill>
              <a:srgbClr val="0F1F3D"/>
            </a:solidFill>
            <a:prstDash val="solid"/>
          </a:ln>
          <a:effectLst>
            <a:outerShdw sx="100000" sy="100000" kx="0" ky="0" algn="bl" rotWithShape="0" blurRad="127000" dist="25400" dir="5400000">
              <a:srgbClr val="0F172A">
                <a:alpha val="10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7680960" y="1783080"/>
            <a:ext cx="91440" cy="21945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909560" y="18745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RULE THAT MAKES THIS SAFE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7909560" y="219456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L1 is canonical. </a:t>
            </a:r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Everything below regenerates from it.</a:t>
            </a:r>
            <a:endParaRPr lang="en-US" sz="1800" dirty="0"/>
          </a:p>
        </p:txBody>
      </p:sp>
      <p:sp>
        <p:nvSpPr>
          <p:cNvPr id="45" name="Text 43"/>
          <p:cNvSpPr/>
          <p:nvPr/>
        </p:nvSpPr>
        <p:spPr>
          <a:xfrm>
            <a:off x="7909560" y="3108960"/>
            <a:ext cx="3749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BDD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Lose the graph → recompile. Bad parse → re-parse. Bad LLM extraction → re-ingest with provenance preserved.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7680960" y="4069080"/>
            <a:ext cx="4050792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5400000">
              <a:srgbClr val="0F172A">
                <a:alpha val="10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7680960" y="4069080"/>
            <a:ext cx="91440" cy="224028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909560" y="41605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WIKI PAGE CARRIES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7909560" y="4462272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type</a:t>
            </a:r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sources[]</a:t>
            </a:r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confidence</a:t>
            </a:r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updated</a:t>
            </a:r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links[]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7909560" y="507492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claim cites a raw/ path or another wiki id.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7909560" y="544068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i="1" dirty="0">
                <a:solidFill>
                  <a:srgbClr val="EF44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floating facts.</a:t>
            </a:r>
            <a:endParaRPr lang="en-US" sz="2200" dirty="0"/>
          </a:p>
        </p:txBody>
      </p:sp>
      <p:sp>
        <p:nvSpPr>
          <p:cNvPr id="52" name="Text 50"/>
          <p:cNvSpPr/>
          <p:nvPr/>
        </p:nvSpPr>
        <p:spPr>
          <a:xfrm>
            <a:off x="7909560" y="589788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Auditable, diffable, mergeable — and small enough to read end-to-end.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457200" y="6446520"/>
            <a:ext cx="11277295" cy="10973"/>
          </a:xfrm>
          <a:prstGeom prst="rect">
            <a:avLst/>
          </a:prstGeom>
          <a:solidFill>
            <a:srgbClr val="E2E8F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Graphs  ·  Typed Knowledge for Enterprise AI Agents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10362895" y="65105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12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11624767" y="6565392"/>
            <a:ext cx="91440" cy="914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06  ·  HARD GUARDRAILS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64008" cy="59436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713232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Rules enforced in code — not policy docs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783080"/>
            <a:ext cx="3721608" cy="45262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5400000">
              <a:srgbClr val="0F172A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783080"/>
            <a:ext cx="3721608" cy="8686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2057400"/>
            <a:ext cx="310896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2057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⛨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97280" y="1965960"/>
            <a:ext cx="2944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LLM WIKI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097280" y="2286000"/>
            <a:ext cx="2944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EAF2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L1  ·  canonical knowledge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40080" y="2761488"/>
            <a:ext cx="256032" cy="25603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76148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960120" y="2724912"/>
            <a:ext cx="308152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Frontmatter is mandatory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960120" y="2971800"/>
            <a:ext cx="30815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Lint rejects any page missing id/type/sources/confidence/updated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40080" y="3328416"/>
            <a:ext cx="256032" cy="25603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33284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960120" y="3291840"/>
            <a:ext cx="308152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claim cites a source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960120" y="3538728"/>
            <a:ext cx="30815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raw/ path or wiki id required — no floating facts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40080" y="3895344"/>
            <a:ext cx="256032" cy="25603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9534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960120" y="3858768"/>
            <a:ext cx="308152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Typed write surface only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960120" y="4105656"/>
            <a:ext cx="30815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Pages created via upsert_entity / upsert_concept — never freehand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40080" y="4462272"/>
            <a:ext cx="256032" cy="25603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46227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960120" y="4425696"/>
            <a:ext cx="308152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Type must exist in ontology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960120" y="4672584"/>
            <a:ext cx="30815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Unknown type → lint error. Add to L3 first, then back-fill L1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40080" y="5029200"/>
            <a:ext cx="256032" cy="25603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" y="50292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960120" y="4992624"/>
            <a:ext cx="308152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Stale claims flagged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960120" y="5239512"/>
            <a:ext cx="30815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page.updated vs source.ingested_at compared on every lint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21792" y="5806440"/>
            <a:ext cx="3392424" cy="36576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31520" y="5833872"/>
            <a:ext cx="31729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ENFORCED IN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731520" y="5998464"/>
            <a:ext cx="31729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lint_agent.py · tools.py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361688" y="1783080"/>
            <a:ext cx="3721608" cy="45262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5400000">
              <a:srgbClr val="0F172A">
                <a:alpha val="1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4361688" y="1783080"/>
            <a:ext cx="3721608" cy="86868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590288" y="2057400"/>
            <a:ext cx="310896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590288" y="2057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⛨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001768" y="1965960"/>
            <a:ext cx="2944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ONTOLOGY</a:t>
            </a:r>
            <a:endParaRPr lang="en-US" sz="1700" dirty="0"/>
          </a:p>
        </p:txBody>
      </p:sp>
      <p:sp>
        <p:nvSpPr>
          <p:cNvPr id="39" name="Text 37"/>
          <p:cNvSpPr/>
          <p:nvPr/>
        </p:nvSpPr>
        <p:spPr>
          <a:xfrm>
            <a:off x="5001768" y="2286000"/>
            <a:ext cx="2944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EAF2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L3  ·  the schema contract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544568" y="2761488"/>
            <a:ext cx="256032" cy="256032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544568" y="276148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4864608" y="2724912"/>
            <a:ext cx="308152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Edit ontology FIRST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4864608" y="2971800"/>
            <a:ext cx="30815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types added to ontology/*.yaml before any page references them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4544568" y="3328416"/>
            <a:ext cx="256032" cy="256032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544568" y="33284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4864608" y="3291840"/>
            <a:ext cx="308152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improvised actions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4864608" y="3538728"/>
            <a:ext cx="30815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no Action Type fits — stop. Propose adding one. Never write.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4544568" y="3895344"/>
            <a:ext cx="256032" cy="256032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544568" y="389534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4864608" y="3858768"/>
            <a:ext cx="308152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Action Types gate all writes</a:t>
            </a:r>
            <a:endParaRPr lang="en-US" sz="1150" dirty="0"/>
          </a:p>
        </p:txBody>
      </p:sp>
      <p:sp>
        <p:nvSpPr>
          <p:cNvPr id="51" name="Text 49"/>
          <p:cNvSpPr/>
          <p:nvPr/>
        </p:nvSpPr>
        <p:spPr>
          <a:xfrm>
            <a:off x="4864608" y="4105656"/>
            <a:ext cx="30815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operational write goes through action_server.py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4544568" y="4462272"/>
            <a:ext cx="256032" cy="256032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544568" y="446227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4864608" y="4425696"/>
            <a:ext cx="308152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audit row per call</a:t>
            </a:r>
            <a:endParaRPr lang="en-US" sz="1150" dirty="0"/>
          </a:p>
        </p:txBody>
      </p:sp>
      <p:sp>
        <p:nvSpPr>
          <p:cNvPr id="55" name="Text 53"/>
          <p:cNvSpPr/>
          <p:nvPr/>
        </p:nvSpPr>
        <p:spPr>
          <a:xfrm>
            <a:off x="4864608" y="4672584"/>
            <a:ext cx="30815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graph/audit.jsonl: actor · scopes · inputs · outcome · fingerprint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4544568" y="5029200"/>
            <a:ext cx="256032" cy="256032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544568" y="50292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4864608" y="4992624"/>
            <a:ext cx="308152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Approval gates declared</a:t>
            </a:r>
            <a:endParaRPr lang="en-US" sz="1150" dirty="0"/>
          </a:p>
        </p:txBody>
      </p:sp>
      <p:sp>
        <p:nvSpPr>
          <p:cNvPr id="59" name="Text 57"/>
          <p:cNvSpPr/>
          <p:nvPr/>
        </p:nvSpPr>
        <p:spPr>
          <a:xfrm>
            <a:off x="4864608" y="5239512"/>
            <a:ext cx="30815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requires_approval: true triggers human-in-the-loop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4526280" y="5806440"/>
            <a:ext cx="3392424" cy="36576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636008" y="5833872"/>
            <a:ext cx="31729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ENFORCED IN</a:t>
            </a:r>
            <a:endParaRPr lang="en-US" sz="800" dirty="0"/>
          </a:p>
        </p:txBody>
      </p:sp>
      <p:sp>
        <p:nvSpPr>
          <p:cNvPr id="62" name="Text 60"/>
          <p:cNvSpPr/>
          <p:nvPr/>
        </p:nvSpPr>
        <p:spPr>
          <a:xfrm>
            <a:off x="4636008" y="5998464"/>
            <a:ext cx="31729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action_server.py · _check_scope()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8266176" y="1783080"/>
            <a:ext cx="3721608" cy="45262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5400000">
              <a:srgbClr val="0F172A">
                <a:alpha val="10000"/>
              </a:srgbClr>
            </a:outerShdw>
          </a:effectLst>
        </p:spPr>
      </p:sp>
      <p:sp>
        <p:nvSpPr>
          <p:cNvPr id="64" name="Shape 62"/>
          <p:cNvSpPr/>
          <p:nvPr/>
        </p:nvSpPr>
        <p:spPr>
          <a:xfrm>
            <a:off x="8266176" y="1783080"/>
            <a:ext cx="3721608" cy="868680"/>
          </a:xfrm>
          <a:prstGeom prst="rect">
            <a:avLst/>
          </a:prstGeom>
          <a:solidFill>
            <a:srgbClr val="0E7C8C"/>
          </a:solidFill>
          <a:ln w="12700">
            <a:solidFill>
              <a:srgbClr val="0E7C8C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8494776" y="2057400"/>
            <a:ext cx="310896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8494776" y="2057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7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⛨</a:t>
            </a:r>
            <a:endParaRPr lang="en-US" sz="1400" dirty="0"/>
          </a:p>
        </p:txBody>
      </p:sp>
      <p:sp>
        <p:nvSpPr>
          <p:cNvPr id="67" name="Text 65"/>
          <p:cNvSpPr/>
          <p:nvPr/>
        </p:nvSpPr>
        <p:spPr>
          <a:xfrm>
            <a:off x="8906256" y="1965960"/>
            <a:ext cx="2944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CONTEXT GRAPH</a:t>
            </a:r>
            <a:endParaRPr lang="en-US" sz="1700" dirty="0"/>
          </a:p>
        </p:txBody>
      </p:sp>
      <p:sp>
        <p:nvSpPr>
          <p:cNvPr id="68" name="Text 66"/>
          <p:cNvSpPr/>
          <p:nvPr/>
        </p:nvSpPr>
        <p:spPr>
          <a:xfrm>
            <a:off x="8906256" y="2286000"/>
            <a:ext cx="2944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EAF2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  ·  derived from L1</a:t>
            </a:r>
            <a:endParaRPr lang="en-US" sz="1100" dirty="0"/>
          </a:p>
        </p:txBody>
      </p:sp>
      <p:sp>
        <p:nvSpPr>
          <p:cNvPr id="69" name="Shape 67"/>
          <p:cNvSpPr/>
          <p:nvPr/>
        </p:nvSpPr>
        <p:spPr>
          <a:xfrm>
            <a:off x="8449056" y="2761488"/>
            <a:ext cx="256032" cy="256032"/>
          </a:xfrm>
          <a:prstGeom prst="ellipse">
            <a:avLst/>
          </a:prstGeom>
          <a:solidFill>
            <a:srgbClr val="0E7C8C"/>
          </a:solidFill>
          <a:ln w="12700">
            <a:solidFill>
              <a:srgbClr val="0E7C8C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449056" y="276148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000" dirty="0"/>
          </a:p>
        </p:txBody>
      </p:sp>
      <p:sp>
        <p:nvSpPr>
          <p:cNvPr id="71" name="Text 69"/>
          <p:cNvSpPr/>
          <p:nvPr/>
        </p:nvSpPr>
        <p:spPr>
          <a:xfrm>
            <a:off x="8769096" y="2724912"/>
            <a:ext cx="308152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Never hand-edited</a:t>
            </a:r>
            <a:endParaRPr lang="en-US" sz="1150" dirty="0"/>
          </a:p>
        </p:txBody>
      </p:sp>
      <p:sp>
        <p:nvSpPr>
          <p:cNvPr id="72" name="Text 70"/>
          <p:cNvSpPr/>
          <p:nvPr/>
        </p:nvSpPr>
        <p:spPr>
          <a:xfrm>
            <a:off x="8769096" y="2971800"/>
            <a:ext cx="30815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kuzu.db is regenerated by compile_graph.py — no direct Cypher writes</a:t>
            </a:r>
            <a:endParaRPr lang="en-US" sz="950" dirty="0"/>
          </a:p>
        </p:txBody>
      </p:sp>
      <p:sp>
        <p:nvSpPr>
          <p:cNvPr id="73" name="Shape 71"/>
          <p:cNvSpPr/>
          <p:nvPr/>
        </p:nvSpPr>
        <p:spPr>
          <a:xfrm>
            <a:off x="8449056" y="3328416"/>
            <a:ext cx="256032" cy="256032"/>
          </a:xfrm>
          <a:prstGeom prst="ellipse">
            <a:avLst/>
          </a:prstGeom>
          <a:solidFill>
            <a:srgbClr val="0E7C8C"/>
          </a:solidFill>
          <a:ln w="12700">
            <a:solidFill>
              <a:srgbClr val="0E7C8C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8449056" y="33284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000" dirty="0"/>
          </a:p>
        </p:txBody>
      </p:sp>
      <p:sp>
        <p:nvSpPr>
          <p:cNvPr id="75" name="Text 73"/>
          <p:cNvSpPr/>
          <p:nvPr/>
        </p:nvSpPr>
        <p:spPr>
          <a:xfrm>
            <a:off x="8769096" y="3291840"/>
            <a:ext cx="308152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Provenance preserved</a:t>
            </a:r>
            <a:endParaRPr lang="en-US" sz="1150" dirty="0"/>
          </a:p>
        </p:txBody>
      </p:sp>
      <p:sp>
        <p:nvSpPr>
          <p:cNvPr id="76" name="Text 74"/>
          <p:cNvSpPr/>
          <p:nvPr/>
        </p:nvSpPr>
        <p:spPr>
          <a:xfrm>
            <a:off x="8769096" y="3538728"/>
            <a:ext cx="30815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edge carries its wiki id + raw/ source path</a:t>
            </a:r>
            <a:endParaRPr lang="en-US" sz="950" dirty="0"/>
          </a:p>
        </p:txBody>
      </p:sp>
      <p:sp>
        <p:nvSpPr>
          <p:cNvPr id="77" name="Shape 75"/>
          <p:cNvSpPr/>
          <p:nvPr/>
        </p:nvSpPr>
        <p:spPr>
          <a:xfrm>
            <a:off x="8449056" y="3895344"/>
            <a:ext cx="256032" cy="256032"/>
          </a:xfrm>
          <a:prstGeom prst="ellipse">
            <a:avLst/>
          </a:prstGeom>
          <a:solidFill>
            <a:srgbClr val="0E7C8C"/>
          </a:solidFill>
          <a:ln w="12700">
            <a:solidFill>
              <a:srgbClr val="0E7C8C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8449056" y="389534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000" dirty="0"/>
          </a:p>
        </p:txBody>
      </p:sp>
      <p:sp>
        <p:nvSpPr>
          <p:cNvPr id="79" name="Text 77"/>
          <p:cNvSpPr/>
          <p:nvPr/>
        </p:nvSpPr>
        <p:spPr>
          <a:xfrm>
            <a:off x="8769096" y="3858768"/>
            <a:ext cx="308152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Snapshots are versioned</a:t>
            </a:r>
            <a:endParaRPr lang="en-US" sz="1150" dirty="0"/>
          </a:p>
        </p:txBody>
      </p:sp>
      <p:sp>
        <p:nvSpPr>
          <p:cNvPr id="80" name="Text 78"/>
          <p:cNvSpPr/>
          <p:nvPr/>
        </p:nvSpPr>
        <p:spPr>
          <a:xfrm>
            <a:off x="8769096" y="4105656"/>
            <a:ext cx="30815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graph/snapshots/graph.jsonl  ·  decision_replay reconstructs state</a:t>
            </a:r>
            <a:endParaRPr lang="en-US" sz="950" dirty="0"/>
          </a:p>
        </p:txBody>
      </p:sp>
      <p:sp>
        <p:nvSpPr>
          <p:cNvPr id="81" name="Shape 79"/>
          <p:cNvSpPr/>
          <p:nvPr/>
        </p:nvSpPr>
        <p:spPr>
          <a:xfrm>
            <a:off x="8449056" y="4462272"/>
            <a:ext cx="256032" cy="256032"/>
          </a:xfrm>
          <a:prstGeom prst="ellipse">
            <a:avLst/>
          </a:prstGeom>
          <a:solidFill>
            <a:srgbClr val="0E7C8C"/>
          </a:solidFill>
          <a:ln w="12700">
            <a:solidFill>
              <a:srgbClr val="0E7C8C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8449056" y="446227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000" dirty="0"/>
          </a:p>
        </p:txBody>
      </p:sp>
      <p:sp>
        <p:nvSpPr>
          <p:cNvPr id="83" name="Text 81"/>
          <p:cNvSpPr/>
          <p:nvPr/>
        </p:nvSpPr>
        <p:spPr>
          <a:xfrm>
            <a:off x="8769096" y="4425696"/>
            <a:ext cx="308152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Retrieval is logged</a:t>
            </a:r>
            <a:endParaRPr lang="en-US" sz="1150" dirty="0"/>
          </a:p>
        </p:txBody>
      </p:sp>
      <p:sp>
        <p:nvSpPr>
          <p:cNvPr id="84" name="Text 82"/>
          <p:cNvSpPr/>
          <p:nvPr/>
        </p:nvSpPr>
        <p:spPr>
          <a:xfrm>
            <a:off x="8769096" y="4672584"/>
            <a:ext cx="30815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graph/retrieval_traces.jsonl records every traversal</a:t>
            </a:r>
            <a:endParaRPr lang="en-US" sz="950" dirty="0"/>
          </a:p>
        </p:txBody>
      </p:sp>
      <p:sp>
        <p:nvSpPr>
          <p:cNvPr id="85" name="Shape 83"/>
          <p:cNvSpPr/>
          <p:nvPr/>
        </p:nvSpPr>
        <p:spPr>
          <a:xfrm>
            <a:off x="8449056" y="5029200"/>
            <a:ext cx="256032" cy="256032"/>
          </a:xfrm>
          <a:prstGeom prst="ellipse">
            <a:avLst/>
          </a:prstGeom>
          <a:solidFill>
            <a:srgbClr val="0E7C8C"/>
          </a:solidFill>
          <a:ln w="12700">
            <a:solidFill>
              <a:srgbClr val="0E7C8C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8449056" y="50292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000" dirty="0"/>
          </a:p>
        </p:txBody>
      </p:sp>
      <p:sp>
        <p:nvSpPr>
          <p:cNvPr id="87" name="Text 85"/>
          <p:cNvSpPr/>
          <p:nvPr/>
        </p:nvSpPr>
        <p:spPr>
          <a:xfrm>
            <a:off x="8769096" y="4992624"/>
            <a:ext cx="308152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Lint blocks unsafe merges</a:t>
            </a:r>
            <a:endParaRPr lang="en-US" sz="1150" dirty="0"/>
          </a:p>
        </p:txBody>
      </p:sp>
      <p:sp>
        <p:nvSpPr>
          <p:cNvPr id="88" name="Text 86"/>
          <p:cNvSpPr/>
          <p:nvPr/>
        </p:nvSpPr>
        <p:spPr>
          <a:xfrm>
            <a:off x="8769096" y="5239512"/>
            <a:ext cx="30815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review_queue.jsonl holds pages that fail completeness checks</a:t>
            </a:r>
            <a:endParaRPr lang="en-US" sz="950" dirty="0"/>
          </a:p>
        </p:txBody>
      </p:sp>
      <p:sp>
        <p:nvSpPr>
          <p:cNvPr id="89" name="Shape 87"/>
          <p:cNvSpPr/>
          <p:nvPr/>
        </p:nvSpPr>
        <p:spPr>
          <a:xfrm>
            <a:off x="8430768" y="5806440"/>
            <a:ext cx="3392424" cy="36576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8540496" y="5833872"/>
            <a:ext cx="31729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ENFORCED IN</a:t>
            </a:r>
            <a:endParaRPr lang="en-US" sz="800" dirty="0"/>
          </a:p>
        </p:txBody>
      </p:sp>
      <p:sp>
        <p:nvSpPr>
          <p:cNvPr id="91" name="Text 89"/>
          <p:cNvSpPr/>
          <p:nvPr/>
        </p:nvSpPr>
        <p:spPr>
          <a:xfrm>
            <a:off x="8540496" y="5998464"/>
            <a:ext cx="31729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7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compile_graph.py · decision_replay.py</a:t>
            </a:r>
            <a:endParaRPr lang="en-US" sz="1000" dirty="0"/>
          </a:p>
        </p:txBody>
      </p:sp>
      <p:sp>
        <p:nvSpPr>
          <p:cNvPr id="92" name="Shape 90"/>
          <p:cNvSpPr/>
          <p:nvPr/>
        </p:nvSpPr>
        <p:spPr>
          <a:xfrm>
            <a:off x="457200" y="6355080"/>
            <a:ext cx="11274552" cy="91440"/>
          </a:xfrm>
          <a:prstGeom prst="rect">
            <a:avLst/>
          </a:prstGeom>
          <a:solidFill>
            <a:srgbClr val="0F1F3D"/>
          </a:solidFill>
          <a:ln w="12700">
            <a:solidFill>
              <a:srgbClr val="0F1F3D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457200" y="6446520"/>
            <a:ext cx="11277295" cy="10973"/>
          </a:xfrm>
          <a:prstGeom prst="rect">
            <a:avLst/>
          </a:prstGeom>
          <a:solidFill>
            <a:srgbClr val="E2E8F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Graphs  ·  Typed Knowledge for Enterprise AI Agents</a:t>
            </a:r>
            <a:endParaRPr lang="en-US" sz="900" dirty="0"/>
          </a:p>
        </p:txBody>
      </p:sp>
      <p:sp>
        <p:nvSpPr>
          <p:cNvPr id="95" name="Text 93"/>
          <p:cNvSpPr/>
          <p:nvPr/>
        </p:nvSpPr>
        <p:spPr>
          <a:xfrm>
            <a:off x="10362895" y="65105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12</a:t>
            </a:r>
            <a:endParaRPr lang="en-US" sz="900" dirty="0"/>
          </a:p>
        </p:txBody>
      </p:sp>
      <p:sp>
        <p:nvSpPr>
          <p:cNvPr id="96" name="Shape 94"/>
          <p:cNvSpPr/>
          <p:nvPr/>
        </p:nvSpPr>
        <p:spPr>
          <a:xfrm>
            <a:off x="11624767" y="6565392"/>
            <a:ext cx="91440" cy="914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07  ·  CAPABILITIES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64008" cy="59436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713232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this stack delivers that RAG cannot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755648"/>
            <a:ext cx="3721608" cy="1207008"/>
          </a:xfrm>
          <a:prstGeom prst="rect">
            <a:avLst/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5400000">
              <a:srgbClr val="0F172A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755648"/>
            <a:ext cx="73152" cy="120700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1920240"/>
            <a:ext cx="329184" cy="329184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19202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143000" y="1901952"/>
            <a:ext cx="2852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Multi-hop typed traversal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85800" y="2322576"/>
            <a:ext cx="33101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Cypher over kuzu.db (7.6 MB today) + 1-hop expansion in query_agent.py.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297680" y="1755648"/>
            <a:ext cx="3721608" cy="1207008"/>
          </a:xfrm>
          <a:prstGeom prst="rect">
            <a:avLst/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5400000">
              <a:srgbClr val="0F172A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297680" y="1755648"/>
            <a:ext cx="73152" cy="120700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26280" y="1920240"/>
            <a:ext cx="329184" cy="329184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26280" y="19202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83480" y="1901952"/>
            <a:ext cx="2852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Provenance audit chain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26280" y="2322576"/>
            <a:ext cx="33101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 → wiki page → raw/ source → parser confidence — visible per fact.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8138160" y="1755648"/>
            <a:ext cx="3721608" cy="1207008"/>
          </a:xfrm>
          <a:prstGeom prst="rect">
            <a:avLst/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5400000">
              <a:srgbClr val="0F172A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138160" y="1755648"/>
            <a:ext cx="73152" cy="1207008"/>
          </a:xfrm>
          <a:prstGeom prst="rect">
            <a:avLst/>
          </a:prstGeom>
          <a:solidFill>
            <a:srgbClr val="0E7C8C"/>
          </a:solidFill>
          <a:ln w="12700">
            <a:solidFill>
              <a:srgbClr val="0E7C8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366760" y="1920240"/>
            <a:ext cx="329184" cy="329184"/>
          </a:xfrm>
          <a:prstGeom prst="ellipse">
            <a:avLst/>
          </a:prstGeom>
          <a:solidFill>
            <a:srgbClr val="0E7C8C"/>
          </a:solidFill>
          <a:ln w="12700">
            <a:solidFill>
              <a:srgbClr val="0E7C8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66760" y="19202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823960" y="1901952"/>
            <a:ext cx="2852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Decision audit trail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366760" y="2322576"/>
            <a:ext cx="33101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action_server invocation appends to graph/audit.jsonl with state fingerprint.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57200" y="3081528"/>
            <a:ext cx="3721608" cy="1207008"/>
          </a:xfrm>
          <a:prstGeom prst="rect">
            <a:avLst/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5400000">
              <a:srgbClr val="0F172A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57200" y="3081528"/>
            <a:ext cx="73152" cy="1207008"/>
          </a:xfrm>
          <a:prstGeom prst="rect">
            <a:avLst/>
          </a:prstGeom>
          <a:solidFill>
            <a:srgbClr val="0E7C8C"/>
          </a:solidFill>
          <a:ln w="12700">
            <a:solidFill>
              <a:srgbClr val="0E7C8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85800" y="3246120"/>
            <a:ext cx="329184" cy="329184"/>
          </a:xfrm>
          <a:prstGeom prst="ellipse">
            <a:avLst/>
          </a:prstGeom>
          <a:solidFill>
            <a:srgbClr val="0E7C8C"/>
          </a:solidFill>
          <a:ln w="12700">
            <a:solidFill>
              <a:srgbClr val="0E7C8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85800" y="3246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143000" y="3227832"/>
            <a:ext cx="2852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Decision replay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85800" y="3648456"/>
            <a:ext cx="33101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decision_replay.py reconstructs world-state at any past decision for full re-derivation.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4297680" y="3081528"/>
            <a:ext cx="3721608" cy="1207008"/>
          </a:xfrm>
          <a:prstGeom prst="rect">
            <a:avLst/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5400000">
              <a:srgbClr val="0F172A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297680" y="3081528"/>
            <a:ext cx="73152" cy="1207008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26280" y="3246120"/>
            <a:ext cx="329184" cy="32918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26280" y="3246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4983480" y="3227832"/>
            <a:ext cx="2852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Precedent search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526280" y="3648456"/>
            <a:ext cx="33101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precedent.py searches the typed Decision graph — "how did we decide this last time?"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8138160" y="3081528"/>
            <a:ext cx="3721608" cy="1207008"/>
          </a:xfrm>
          <a:prstGeom prst="rect">
            <a:avLst/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5400000">
              <a:srgbClr val="0F172A">
                <a:alpha val="10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8138160" y="3081528"/>
            <a:ext cx="73152" cy="1207008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366760" y="3246120"/>
            <a:ext cx="329184" cy="32918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366760" y="3246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8823960" y="3227832"/>
            <a:ext cx="2852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Extraction-completeness lint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8366760" y="3648456"/>
            <a:ext cx="33101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lint_agent flags numeric line items present in source but missing from wiki.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457200" y="4407408"/>
            <a:ext cx="3721608" cy="1207008"/>
          </a:xfrm>
          <a:prstGeom prst="rect">
            <a:avLst/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5400000">
              <a:srgbClr val="0F172A">
                <a:alpha val="10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457200" y="4407408"/>
            <a:ext cx="73152" cy="120700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85800" y="457200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85800" y="45720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1143000" y="4553712"/>
            <a:ext cx="2852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Retrieval traces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685800" y="4974336"/>
            <a:ext cx="33101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graph/retrieval_traces.jsonl logs every traversal — auditable post-hoc.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4297680" y="4407408"/>
            <a:ext cx="3721608" cy="1207008"/>
          </a:xfrm>
          <a:prstGeom prst="rect">
            <a:avLst/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5400000">
              <a:srgbClr val="0F172A">
                <a:alpha val="10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4297680" y="4407408"/>
            <a:ext cx="73152" cy="120700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526280" y="457200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526280" y="45720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4983480" y="4553712"/>
            <a:ext cx="2852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Snapshot + visualize</a:t>
            </a:r>
            <a:endParaRPr lang="en-US" sz="1400" dirty="0"/>
          </a:p>
        </p:txBody>
      </p:sp>
      <p:sp>
        <p:nvSpPr>
          <p:cNvPr id="52" name="Text 50"/>
          <p:cNvSpPr/>
          <p:nvPr/>
        </p:nvSpPr>
        <p:spPr>
          <a:xfrm>
            <a:off x="4526280" y="4974336"/>
            <a:ext cx="33101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graph/snapshots/graph.jsonl + visualize_graph.py renders interactive + GraphML.</a:t>
            </a:r>
            <a:endParaRPr lang="en-US" sz="1150" dirty="0"/>
          </a:p>
        </p:txBody>
      </p:sp>
      <p:sp>
        <p:nvSpPr>
          <p:cNvPr id="53" name="Shape 51"/>
          <p:cNvSpPr/>
          <p:nvPr/>
        </p:nvSpPr>
        <p:spPr>
          <a:xfrm>
            <a:off x="8138160" y="4407408"/>
            <a:ext cx="3721608" cy="1207008"/>
          </a:xfrm>
          <a:prstGeom prst="rect">
            <a:avLst/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5400000">
              <a:srgbClr val="0F172A">
                <a:alpha val="10000"/>
              </a:srgbClr>
            </a:outerShdw>
          </a:effectLst>
        </p:spPr>
      </p:sp>
      <p:sp>
        <p:nvSpPr>
          <p:cNvPr id="54" name="Shape 52"/>
          <p:cNvSpPr/>
          <p:nvPr/>
        </p:nvSpPr>
        <p:spPr>
          <a:xfrm>
            <a:off x="8138160" y="4407408"/>
            <a:ext cx="73152" cy="1207008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366760" y="4572000"/>
            <a:ext cx="329184" cy="329184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8366760" y="45720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8823960" y="4553712"/>
            <a:ext cx="2852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Pluggable LLM stack</a:t>
            </a:r>
            <a:endParaRPr lang="en-US" sz="1400" dirty="0"/>
          </a:p>
        </p:txBody>
      </p:sp>
      <p:sp>
        <p:nvSpPr>
          <p:cNvPr id="58" name="Text 56"/>
          <p:cNvSpPr/>
          <p:nvPr/>
        </p:nvSpPr>
        <p:spPr>
          <a:xfrm>
            <a:off x="8366760" y="4974336"/>
            <a:ext cx="33101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providers wired (Moonshot · OpenAI · Gemini · OpenRouter · NVIDIA · DeepSeek).</a:t>
            </a:r>
            <a:endParaRPr lang="en-US" sz="1150" dirty="0"/>
          </a:p>
        </p:txBody>
      </p:sp>
      <p:sp>
        <p:nvSpPr>
          <p:cNvPr id="59" name="Shape 57"/>
          <p:cNvSpPr/>
          <p:nvPr/>
        </p:nvSpPr>
        <p:spPr>
          <a:xfrm>
            <a:off x="457200" y="5733288"/>
            <a:ext cx="11274552" cy="777240"/>
          </a:xfrm>
          <a:prstGeom prst="rect">
            <a:avLst/>
          </a:prstGeom>
          <a:solidFill>
            <a:srgbClr val="0F1F3D"/>
          </a:solidFill>
          <a:ln w="12700">
            <a:solidFill>
              <a:srgbClr val="0F1F3D"/>
            </a:solidFill>
            <a:prstDash val="solid"/>
          </a:ln>
          <a:effectLst>
            <a:outerShdw sx="100000" sy="100000" kx="0" ky="0" algn="bl" rotWithShape="0" blurRad="127000" dist="25400" dir="5400000">
              <a:srgbClr val="0F172A">
                <a:alpha val="10000"/>
              </a:srgbClr>
            </a:outerShdw>
          </a:effectLst>
        </p:spPr>
      </p:sp>
      <p:sp>
        <p:nvSpPr>
          <p:cNvPr id="60" name="Shape 58"/>
          <p:cNvSpPr/>
          <p:nvPr/>
        </p:nvSpPr>
        <p:spPr>
          <a:xfrm>
            <a:off x="457200" y="5733288"/>
            <a:ext cx="91440" cy="7772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13232" y="5925312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DD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in this repo today:  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484 wiki pages  ·  21 agents  ·  audit trail  ·  decision replay</a:t>
            </a:r>
            <a:pPr indent="0" marL="0">
              <a:buNone/>
            </a:pPr>
            <a:r>
              <a:rPr lang="en-US" sz="1400" dirty="0">
                <a:solidFill>
                  <a:srgbClr val="BDD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every capability above is shipping code, not roadmap.</a:t>
            </a:r>
            <a:endParaRPr lang="en-US" sz="1400" dirty="0"/>
          </a:p>
        </p:txBody>
      </p:sp>
      <p:sp>
        <p:nvSpPr>
          <p:cNvPr id="62" name="Shape 60"/>
          <p:cNvSpPr/>
          <p:nvPr/>
        </p:nvSpPr>
        <p:spPr>
          <a:xfrm>
            <a:off x="457200" y="6446520"/>
            <a:ext cx="11277295" cy="10973"/>
          </a:xfrm>
          <a:prstGeom prst="rect">
            <a:avLst/>
          </a:prstGeom>
          <a:solidFill>
            <a:srgbClr val="E2E8F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Graphs  ·  Typed Knowledge for Enterprise AI Agents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10362895" y="65105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12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11624767" y="6565392"/>
            <a:ext cx="91440" cy="914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08  ·  INDUSTRY VALIDATION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64008" cy="59436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713232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Six independent signals — same direction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755648"/>
            <a:ext cx="11274552" cy="38404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21792" y="1755648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359152" y="1755648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370832" y="1755648"/>
            <a:ext cx="4069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they ship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759952" y="1755648"/>
            <a:ext cx="2862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signal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139696"/>
            <a:ext cx="11274552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2139696"/>
            <a:ext cx="73152" cy="56692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1792" y="2139696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Palantir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359152" y="2139696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+ AIP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370832" y="2139696"/>
            <a:ext cx="4069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Ontology = digital twin of the organization; semantic + kinetic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8759952" y="2139696"/>
            <a:ext cx="28620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AIP Document Intelligence GA  ·  Feb 2026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2706624"/>
            <a:ext cx="11274552" cy="566928"/>
          </a:xfrm>
          <a:prstGeom prst="rect">
            <a:avLst/>
          </a:prstGeom>
          <a:solidFill>
            <a:srgbClr val="EEF4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200" y="2706624"/>
            <a:ext cx="73152" cy="566928"/>
          </a:xfrm>
          <a:prstGeom prst="rect">
            <a:avLst/>
          </a:prstGeom>
          <a:solidFill>
            <a:srgbClr val="0E7C8C"/>
          </a:solidFill>
          <a:ln w="12700">
            <a:solidFill>
              <a:srgbClr val="0E7C8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21792" y="2706624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Microsoft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359152" y="2706624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GraphRAG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370832" y="2706624"/>
            <a:ext cx="4069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Hierarchical community summaries over LLM-extracted KG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759952" y="2706624"/>
            <a:ext cx="28620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E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3.4× QA accuracy gain  ·  shipping in Azure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7200" y="3273552"/>
            <a:ext cx="11274552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273552"/>
            <a:ext cx="73152" cy="566928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21792" y="3273552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TrustGraph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2359152" y="3273552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source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370832" y="3273552"/>
            <a:ext cx="4069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Operating System; 4-level provenance; PROV-O traces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8759952" y="3273552"/>
            <a:ext cx="28620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Open-source Context Graphs  ·  portable cores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57200" y="3840480"/>
            <a:ext cx="11274552" cy="566928"/>
          </a:xfrm>
          <a:prstGeom prst="rect">
            <a:avLst/>
          </a:prstGeom>
          <a:solidFill>
            <a:srgbClr val="EEF4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57200" y="3840480"/>
            <a:ext cx="73152" cy="5669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21792" y="3840480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Karpathy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2359152" y="384048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Wiki gist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370832" y="3840480"/>
            <a:ext cx="4069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Canonical markdown maintained by the LLM; compounds over time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8759952" y="3840480"/>
            <a:ext cx="28620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 2026  ·  Obsidian / Claude Code variants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457200" y="4407408"/>
            <a:ext cx="11274552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57200" y="4407408"/>
            <a:ext cx="73152" cy="566928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21792" y="440740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LinkedIn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2359152" y="4407408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GraphRAG over support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4370832" y="4407408"/>
            <a:ext cx="4069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KG-augmented retrieval on tickets + customer KG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8759952" y="4407408"/>
            <a:ext cx="28620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40h → 15h ticket resolution  (−63%)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457200" y="4974336"/>
            <a:ext cx="11274552" cy="566928"/>
          </a:xfrm>
          <a:prstGeom prst="rect">
            <a:avLst/>
          </a:prstGeom>
          <a:solidFill>
            <a:srgbClr val="EEF4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57200" y="4974336"/>
            <a:ext cx="73152" cy="566928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21792" y="4974336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Uber · Airbnb · Netflix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2359152" y="4974336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platforms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4370832" y="4974336"/>
            <a:ext cx="4069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Knowledge-graph-backed feature stores + discovery</a:t>
            </a:r>
            <a:endParaRPr lang="en-US" sz="1150" dirty="0"/>
          </a:p>
        </p:txBody>
      </p:sp>
      <p:sp>
        <p:nvSpPr>
          <p:cNvPr id="45" name="Text 43"/>
          <p:cNvSpPr/>
          <p:nvPr/>
        </p:nvSpPr>
        <p:spPr>
          <a:xfrm>
            <a:off x="8759952" y="4974336"/>
            <a:ext cx="28620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(vector + graph) is the default pattern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457200" y="5724144"/>
            <a:ext cx="11274552" cy="713232"/>
          </a:xfrm>
          <a:prstGeom prst="rect">
            <a:avLst/>
          </a:prstGeom>
          <a:solidFill>
            <a:srgbClr val="0F1F3D"/>
          </a:solidFill>
          <a:ln w="12700">
            <a:solidFill>
              <a:srgbClr val="0F1F3D"/>
            </a:solidFill>
            <a:prstDash val="solid"/>
          </a:ln>
          <a:effectLst>
            <a:outerShdw sx="100000" sy="100000" kx="0" ky="0" algn="bl" rotWithShape="0" blurRad="127000" dist="25400" dir="5400000">
              <a:srgbClr val="0F172A">
                <a:alpha val="10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457200" y="5724144"/>
            <a:ext cx="91440" cy="71323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13232" y="58704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DD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direction (2026):  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retrieval = default. Pure-vector RAG is a 2024 pattern.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457200" y="6446520"/>
            <a:ext cx="11277295" cy="10973"/>
          </a:xfrm>
          <a:prstGeom prst="rect">
            <a:avLst/>
          </a:prstGeom>
          <a:solidFill>
            <a:srgbClr val="E2E8F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Graphs  ·  Typed Knowledge for Enterprise AI Agents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10362895" y="65105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12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11624767" y="6565392"/>
            <a:ext cx="91440" cy="914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09  ·  USE CASES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64008" cy="59436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713232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enterprise outcomes on the same stack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783080"/>
            <a:ext cx="3721608" cy="45262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5400000">
              <a:srgbClr val="0F172A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783080"/>
            <a:ext cx="3721608" cy="96012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1965960"/>
            <a:ext cx="594360" cy="5943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19659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417320" y="1947672"/>
            <a:ext cx="26243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Compliance &amp; Audit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417320" y="2350008"/>
            <a:ext cx="2624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EAF2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REGULATED INDUSTRIES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40080" y="2926080"/>
            <a:ext cx="3355848" cy="141732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2926080"/>
            <a:ext cx="45720" cy="141732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2990088"/>
            <a:ext cx="3172968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“For every claim in our quarterly disclosure, show the source, ingest timestamp, parser confidence, and ontology version.”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4480560"/>
            <a:ext cx="321868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Provenance chain produces a regulator-grade derivation per claim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Linter flags stale derivations and contradicting concepts before filing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log proves who invoked which write, when, with which approval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361688" y="1783080"/>
            <a:ext cx="3721608" cy="45262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5400000">
              <a:srgbClr val="0F172A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361688" y="1783080"/>
            <a:ext cx="3721608" cy="960120"/>
          </a:xfrm>
          <a:prstGeom prst="rect">
            <a:avLst/>
          </a:prstGeom>
          <a:solidFill>
            <a:srgbClr val="0E7C8C"/>
          </a:solidFill>
          <a:ln w="12700">
            <a:solidFill>
              <a:srgbClr val="0E7C8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90288" y="1965960"/>
            <a:ext cx="594360" cy="5943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90288" y="19659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E7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5321808" y="1947672"/>
            <a:ext cx="26243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Decision-Support Memos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5321808" y="2350008"/>
            <a:ext cx="2624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EAF2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 · M&amp;A · BD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44568" y="2926080"/>
            <a:ext cx="3355848" cy="141732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44568" y="2926080"/>
            <a:ext cx="45720" cy="1417320"/>
          </a:xfrm>
          <a:prstGeom prst="rect">
            <a:avLst/>
          </a:prstGeom>
          <a:solidFill>
            <a:srgbClr val="0E7C8C"/>
          </a:solidFill>
          <a:ln w="12700">
            <a:solidFill>
              <a:srgbClr val="0E7C8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81728" y="2990088"/>
            <a:ext cx="3172968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“Build a 2-hop intelligence memo on Acme Corp: cited evidence, contradictions, freshness, derived metrics.”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636008" y="4480560"/>
            <a:ext cx="321868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Memo Engine runs in seconds with no LLM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is a typed Memo wiki page + machine-replayable JSON trace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nightly; alerts on net-new contradictions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266176" y="1783080"/>
            <a:ext cx="3721608" cy="45262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5400000">
              <a:srgbClr val="0F172A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266176" y="1783080"/>
            <a:ext cx="3721608" cy="9601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494776" y="1965960"/>
            <a:ext cx="594360" cy="5943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94776" y="19659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9226296" y="1947672"/>
            <a:ext cx="26243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Governed Agentic Operations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9226296" y="2350008"/>
            <a:ext cx="2624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EAF2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· SUPPORT · OPS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449056" y="2926080"/>
            <a:ext cx="3355848" cy="141732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449056" y="2926080"/>
            <a:ext cx="45720" cy="14173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586216" y="2990088"/>
            <a:ext cx="3172968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“Let agents propose actions — but only ones the ontology allows, with audit trails.”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8540496" y="4480560"/>
            <a:ext cx="321868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Types are the only write surface (create_customer, escalate_ticket, …)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+ approval gates enforced server-side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server emits one audit row per call; agents cannot bypass it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57200" y="6446520"/>
            <a:ext cx="11277295" cy="10973"/>
          </a:xfrm>
          <a:prstGeom prst="rect">
            <a:avLst/>
          </a:prstGeom>
          <a:solidFill>
            <a:srgbClr val="E2E8F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Graphs  ·  Typed Knowledge for Enterprise AI Agents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0362895" y="65105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12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11624767" y="6565392"/>
            <a:ext cx="91440" cy="914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10  ·  ADOPTION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64008" cy="59436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713232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0–30 already built — what the pilot adds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2606040"/>
            <a:ext cx="11091672" cy="54864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606040"/>
            <a:ext cx="11091672" cy="5486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770507" y="2468880"/>
            <a:ext cx="329184" cy="329184"/>
          </a:xfrm>
          <a:prstGeom prst="ellipse">
            <a:avLst/>
          </a:prstGeom>
          <a:solidFill>
            <a:srgbClr val="10B981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770507" y="2468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54939" y="19659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2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0  ✓ DONE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09219" y="2971800"/>
            <a:ext cx="2651760" cy="1234440"/>
          </a:xfrm>
          <a:prstGeom prst="rect">
            <a:avLst/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5400000">
              <a:srgbClr val="0F172A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09219" y="2971800"/>
            <a:ext cx="2651760" cy="54864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00659" y="3081528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Layered repo standing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00659" y="3474720"/>
            <a:ext cx="2468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wiki/ · graph/ · ontology/ · agents/  ·  6 LLM providers wired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43425" y="2468880"/>
            <a:ext cx="329184" cy="329184"/>
          </a:xfrm>
          <a:prstGeom prst="ellipse">
            <a:avLst/>
          </a:prstGeom>
          <a:solidFill>
            <a:srgbClr val="10B981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43425" y="2468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427857" y="19659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2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30  ✓ DONE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382137" y="2971800"/>
            <a:ext cx="2651760" cy="1234440"/>
          </a:xfrm>
          <a:prstGeom prst="rect">
            <a:avLst/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5400000">
              <a:srgbClr val="0F172A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382137" y="2971800"/>
            <a:ext cx="2651760" cy="54864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473577" y="3081528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Real corpus ingested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473577" y="3474720"/>
            <a:ext cx="2468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484 pages · 24 sources  ·  Ontology v1 (7 · 14 · 6)  ·  audit log live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316343" y="2468880"/>
            <a:ext cx="329184" cy="329184"/>
          </a:xfrm>
          <a:prstGeom prst="ellipse">
            <a:avLst/>
          </a:prstGeom>
          <a:solidFill>
            <a:srgbClr val="065A8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6343" y="2468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200775" y="19659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2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60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155055" y="2971800"/>
            <a:ext cx="2651760" cy="1234440"/>
          </a:xfrm>
          <a:prstGeom prst="rect">
            <a:avLst/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5400000">
              <a:srgbClr val="0F172A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155055" y="2971800"/>
            <a:ext cx="2651760" cy="5486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46495" y="3081528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Pilot use case starts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246495" y="3474720"/>
            <a:ext cx="2468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A, B, or C  ·  Memo Engine + decision_replay against pilot data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0089261" y="2468880"/>
            <a:ext cx="329184" cy="329184"/>
          </a:xfrm>
          <a:prstGeom prst="ellipse">
            <a:avLst/>
          </a:prstGeom>
          <a:solidFill>
            <a:srgbClr val="F59E0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0089261" y="2468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8973693" y="19659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2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90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927973" y="2971800"/>
            <a:ext cx="2651760" cy="1234440"/>
          </a:xfrm>
          <a:prstGeom prst="rect">
            <a:avLst/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5400000">
              <a:srgbClr val="0F172A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8927973" y="2971800"/>
            <a:ext cx="265176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019413" y="3081528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Pilot in production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9019413" y="3474720"/>
            <a:ext cx="2468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KPIs reviewed  ·  tier-up plan triggered as the corpus scales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57200" y="4434840"/>
            <a:ext cx="11274552" cy="1920240"/>
          </a:xfrm>
          <a:prstGeom prst="rect">
            <a:avLst/>
          </a:prstGeom>
          <a:solidFill>
            <a:srgbClr val="0F1F3D"/>
          </a:solidFill>
          <a:ln w="12700">
            <a:solidFill>
              <a:srgbClr val="0F1F3D"/>
            </a:solidFill>
            <a:prstDash val="solid"/>
          </a:ln>
          <a:effectLst>
            <a:outerShdw sx="100000" sy="100000" kx="0" ky="0" algn="bl" rotWithShape="0" blurRad="127000" dist="25400" dir="5400000">
              <a:srgbClr val="0F172A">
                <a:alpha val="10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457200" y="4434840"/>
            <a:ext cx="91440" cy="19202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31520" y="4526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Complexity controls — 8-tier ladder, adopted on demand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94360" y="5047488"/>
            <a:ext cx="365760" cy="36576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94360" y="50474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F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1051560" y="4983480"/>
            <a:ext cx="22699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Query-side filters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1051560" y="5248656"/>
            <a:ext cx="226999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CB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half a day's work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367278" y="5047488"/>
            <a:ext cx="365760" cy="36576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367278" y="50474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F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3824478" y="4983480"/>
            <a:ext cx="22699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Domain partitioning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3824478" y="5248656"/>
            <a:ext cx="226999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CB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3 source classes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6140196" y="5047488"/>
            <a:ext cx="365760" cy="36576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140196" y="50474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F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6597396" y="4983480"/>
            <a:ext cx="22699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Hierarchical synthesis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6597396" y="5248656"/>
            <a:ext cx="226999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CB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500 pages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8913114" y="5047488"/>
            <a:ext cx="365760" cy="36576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8913114" y="50474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F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9370314" y="4983480"/>
            <a:ext cx="22699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Centrality &amp; PageRank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9370314" y="5248656"/>
            <a:ext cx="226999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CB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1k nodes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594360" y="5710428"/>
            <a:ext cx="365760" cy="36576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94360" y="57104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F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300" dirty="0"/>
          </a:p>
        </p:txBody>
      </p:sp>
      <p:sp>
        <p:nvSpPr>
          <p:cNvPr id="56" name="Text 54"/>
          <p:cNvSpPr/>
          <p:nvPr/>
        </p:nvSpPr>
        <p:spPr>
          <a:xfrm>
            <a:off x="1051560" y="5646420"/>
            <a:ext cx="22699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Edge weights &amp; pruning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1051560" y="5911596"/>
            <a:ext cx="226999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CB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get noisy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3367278" y="5710428"/>
            <a:ext cx="365760" cy="36576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3367278" y="57104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F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300" dirty="0"/>
          </a:p>
        </p:txBody>
      </p:sp>
      <p:sp>
        <p:nvSpPr>
          <p:cNvPr id="60" name="Text 58"/>
          <p:cNvSpPr/>
          <p:nvPr/>
        </p:nvSpPr>
        <p:spPr>
          <a:xfrm>
            <a:off x="3824478" y="5646420"/>
            <a:ext cx="22699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Bitemporal valid_from/_to</a:t>
            </a:r>
            <a:endParaRPr lang="en-US" sz="1200" dirty="0"/>
          </a:p>
        </p:txBody>
      </p:sp>
      <p:sp>
        <p:nvSpPr>
          <p:cNvPr id="61" name="Text 59"/>
          <p:cNvSpPr/>
          <p:nvPr/>
        </p:nvSpPr>
        <p:spPr>
          <a:xfrm>
            <a:off x="3824478" y="5911596"/>
            <a:ext cx="226999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CB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Recurring time conflicts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6140196" y="5710428"/>
            <a:ext cx="365760" cy="36576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140196" y="57104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F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1300" dirty="0"/>
          </a:p>
        </p:txBody>
      </p:sp>
      <p:sp>
        <p:nvSpPr>
          <p:cNvPr id="64" name="Text 62"/>
          <p:cNvSpPr/>
          <p:nvPr/>
        </p:nvSpPr>
        <p:spPr>
          <a:xfrm>
            <a:off x="6597396" y="5646420"/>
            <a:ext cx="22699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Ontology versioning</a:t>
            </a:r>
            <a:endParaRPr lang="en-US" sz="1200" dirty="0"/>
          </a:p>
        </p:txBody>
      </p:sp>
      <p:sp>
        <p:nvSpPr>
          <p:cNvPr id="65" name="Text 63"/>
          <p:cNvSpPr/>
          <p:nvPr/>
        </p:nvSpPr>
        <p:spPr>
          <a:xfrm>
            <a:off x="6597396" y="5911596"/>
            <a:ext cx="226999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CB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starts sprawling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8913114" y="5710428"/>
            <a:ext cx="365760" cy="36576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8913114" y="57104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F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1300" dirty="0"/>
          </a:p>
        </p:txBody>
      </p:sp>
      <p:sp>
        <p:nvSpPr>
          <p:cNvPr id="68" name="Text 66"/>
          <p:cNvSpPr/>
          <p:nvPr/>
        </p:nvSpPr>
        <p:spPr>
          <a:xfrm>
            <a:off x="9370314" y="5646420"/>
            <a:ext cx="22699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Tenancy / multi-overlay</a:t>
            </a:r>
            <a:endParaRPr lang="en-US" sz="1200" dirty="0"/>
          </a:p>
        </p:txBody>
      </p:sp>
      <p:sp>
        <p:nvSpPr>
          <p:cNvPr id="69" name="Text 67"/>
          <p:cNvSpPr/>
          <p:nvPr/>
        </p:nvSpPr>
        <p:spPr>
          <a:xfrm>
            <a:off x="9370314" y="5911596"/>
            <a:ext cx="226999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CB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Multi-BU rollout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457200" y="6446520"/>
            <a:ext cx="11277295" cy="10973"/>
          </a:xfrm>
          <a:prstGeom prst="rect">
            <a:avLst/>
          </a:prstGeom>
          <a:solidFill>
            <a:srgbClr val="29406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B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Graphs  ·  Typed Knowledge for Enterprise AI Agents</a:t>
            </a:r>
            <a:endParaRPr lang="en-US" sz="900" dirty="0"/>
          </a:p>
        </p:txBody>
      </p:sp>
      <p:sp>
        <p:nvSpPr>
          <p:cNvPr id="72" name="Text 70"/>
          <p:cNvSpPr/>
          <p:nvPr/>
        </p:nvSpPr>
        <p:spPr>
          <a:xfrm>
            <a:off x="10362895" y="65105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B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12</a:t>
            </a:r>
            <a:endParaRPr lang="en-US" sz="900" dirty="0"/>
          </a:p>
        </p:txBody>
      </p:sp>
      <p:sp>
        <p:nvSpPr>
          <p:cNvPr id="73" name="Shape 71"/>
          <p:cNvSpPr/>
          <p:nvPr/>
        </p:nvSpPr>
        <p:spPr>
          <a:xfrm>
            <a:off x="11624767" y="6565392"/>
            <a:ext cx="91440" cy="914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19695" y="-2743200"/>
            <a:ext cx="7315200" cy="7315200"/>
          </a:xfrm>
          <a:prstGeom prst="ellipse">
            <a:avLst/>
          </a:prstGeom>
          <a:solidFill>
            <a:srgbClr val="065A82">
              <a:alpha val="25000"/>
            </a:srgbClr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11  ·  CLOSING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57200" y="850392"/>
            <a:ext cx="64008" cy="5943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77724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ask, the risks, the scoreboard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457200" y="1783080"/>
            <a:ext cx="3721608" cy="4343400"/>
          </a:xfrm>
          <a:prstGeom prst="rect">
            <a:avLst/>
          </a:prstGeom>
          <a:solidFill>
            <a:srgbClr val="152A52"/>
          </a:solidFill>
          <a:ln w="10160">
            <a:solidFill>
              <a:srgbClr val="29406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783080"/>
            <a:ext cx="3721608" cy="4572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874520"/>
            <a:ext cx="3355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WE'RE ASKING FOR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85800" y="2468880"/>
            <a:ext cx="274320" cy="27432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2468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F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051560" y="2423160"/>
            <a:ext cx="2990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Sponsor + use case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51560" y="2715768"/>
            <a:ext cx="2990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D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named exec, one bounded business problem, 90-day pilot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85800" y="3355848"/>
            <a:ext cx="274320" cy="27432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33558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F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51560" y="3310128"/>
            <a:ext cx="2990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Team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51560" y="3602736"/>
            <a:ext cx="2990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D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engineers + one domain SME for the pilot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85800" y="4242816"/>
            <a:ext cx="274320" cy="27432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5800" y="4242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F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51560" y="4197096"/>
            <a:ext cx="2990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Read access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051560" y="4489704"/>
            <a:ext cx="2990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D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document set + one record table (CSV / SQL extract)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85800" y="5129784"/>
            <a:ext cx="274320" cy="27432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5800" y="51297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F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051560" y="5084064"/>
            <a:ext cx="2990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Decisions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051560" y="5376672"/>
            <a:ext cx="2990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D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scope · designate sponsor · schedule month-2 KPI review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361688" y="1783080"/>
            <a:ext cx="3721608" cy="4343400"/>
          </a:xfrm>
          <a:prstGeom prst="rect">
            <a:avLst/>
          </a:prstGeom>
          <a:solidFill>
            <a:srgbClr val="152A52"/>
          </a:solidFill>
          <a:ln w="10160">
            <a:solidFill>
              <a:srgbClr val="29406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361688" y="1783080"/>
            <a:ext cx="3721608" cy="4572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44568" y="1874520"/>
            <a:ext cx="3355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RISKS &amp; MITIGATIONS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590288" y="2423160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F44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✕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4910328" y="2423160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Ontology violations from LLM ingestion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910328" y="2697480"/>
            <a:ext cx="3035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E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Linter blocks merge; ontology-first edits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4590288" y="3136392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F44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✕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4910328" y="3136392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Graph complexity overwhelms users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4910328" y="3410712"/>
            <a:ext cx="3035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E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8-tier ladder; domain partitioning + memo rollups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4590288" y="3849624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F44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✕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4910328" y="3849624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Vendor lock-in (LLM provider)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4910328" y="4123944"/>
            <a:ext cx="3035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E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Pluggable: 6 providers wired today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4590288" y="4562856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F44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✕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4910328" y="4562856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Hallucinated citations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4910328" y="4837176"/>
            <a:ext cx="3035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E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"No floating facts" rule enforced by upsert tools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4590288" y="5276088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F44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✕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4910328" y="5276088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Bitemporal complexity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4910328" y="5550408"/>
            <a:ext cx="3035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E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Optional Tier-6; not required day 1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8266176" y="1783080"/>
            <a:ext cx="3465576" cy="4343400"/>
          </a:xfrm>
          <a:prstGeom prst="rect">
            <a:avLst/>
          </a:prstGeom>
          <a:solidFill>
            <a:srgbClr val="152A52"/>
          </a:solidFill>
          <a:ln w="10160">
            <a:solidFill>
              <a:srgbClr val="29406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266176" y="1783080"/>
            <a:ext cx="3465576" cy="4572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449056" y="1874520"/>
            <a:ext cx="3099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KPIs WE'LL TRACK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8494776" y="2478024"/>
            <a:ext cx="164592" cy="16459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769096" y="2423160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Time-to-answer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8769096" y="26974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BDD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→ 90-day delta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8494776" y="3191256"/>
            <a:ext cx="164592" cy="16459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769096" y="3136392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 rate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8769096" y="3410712"/>
            <a:ext cx="2825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BDD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answers with grounded link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8494776" y="3904488"/>
            <a:ext cx="164592" cy="16459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8769096" y="3849624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Lint clean-rate at merge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8769096" y="4123944"/>
            <a:ext cx="2825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BDD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pages passing all checks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8494776" y="4617720"/>
            <a:ext cx="164592" cy="16459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8769096" y="4562856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Audit completeness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8769096" y="4837176"/>
            <a:ext cx="2825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BDD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target on action server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8494776" y="5330952"/>
            <a:ext cx="164592" cy="16459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769096" y="5276088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% queries via graph</a:t>
            </a:r>
            <a:endParaRPr lang="en-US" sz="1200" dirty="0"/>
          </a:p>
        </p:txBody>
      </p:sp>
      <p:sp>
        <p:nvSpPr>
          <p:cNvPr id="60" name="Text 58"/>
          <p:cNvSpPr/>
          <p:nvPr/>
        </p:nvSpPr>
        <p:spPr>
          <a:xfrm>
            <a:off x="8769096" y="5550408"/>
            <a:ext cx="2825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BDD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shift toward graph by month 3</a:t>
            </a:r>
            <a:endParaRPr lang="en-US" sz="1050" dirty="0"/>
          </a:p>
        </p:txBody>
      </p:sp>
      <p:sp>
        <p:nvSpPr>
          <p:cNvPr id="61" name="Shape 59"/>
          <p:cNvSpPr/>
          <p:nvPr/>
        </p:nvSpPr>
        <p:spPr>
          <a:xfrm>
            <a:off x="457200" y="6263640"/>
            <a:ext cx="11274552" cy="182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57200" y="6446520"/>
            <a:ext cx="11277295" cy="10973"/>
          </a:xfrm>
          <a:prstGeom prst="rect">
            <a:avLst/>
          </a:prstGeom>
          <a:solidFill>
            <a:srgbClr val="29406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B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Graphs  ·  Typed Knowledge for Enterprise AI Agents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10362895" y="65105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B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12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11624767" y="6565392"/>
            <a:ext cx="91440" cy="914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 ·  SOURCES &amp; FURTHER READING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64008" cy="59436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713232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this brief draws on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691640"/>
            <a:ext cx="11274552" cy="1417320"/>
          </a:xfrm>
          <a:prstGeom prst="rect">
            <a:avLst/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5400000">
              <a:srgbClr val="0F172A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691640"/>
            <a:ext cx="73152" cy="141732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783080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5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REFERENCES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68680" y="2075688"/>
            <a:ext cx="107716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"/>
              </a:spcAft>
              <a:buSzPct val="100000"/>
              <a:buChar char="■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Palantir Foundry Ontology overview  ·  AIP architecture  ·  Feb 2026 announcements</a:t>
            </a:r>
            <a:endParaRPr lang="en-US" sz="1050" dirty="0"/>
          </a:p>
          <a:p>
            <a:pPr marL="342900" indent="-342900">
              <a:spcAft>
                <a:spcPts val="100"/>
              </a:spcAft>
              <a:buSzPct val="100000"/>
              <a:buChar char="■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GraphRAG project + GitHub (microsoft/graphrag)</a:t>
            </a:r>
            <a:endParaRPr lang="en-US" sz="1050" dirty="0"/>
          </a:p>
          <a:p>
            <a:pPr marL="342900" indent="-342900">
              <a:spcAft>
                <a:spcPts val="100"/>
              </a:spcAft>
              <a:buSzPct val="100000"/>
              <a:buChar char="■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TrustGraph — Context Operating System; Ontologies and Context Graphs guide</a:t>
            </a:r>
            <a:endParaRPr lang="en-US" sz="1050" dirty="0"/>
          </a:p>
          <a:p>
            <a:pPr marL="342900" indent="-342900">
              <a:spcAft>
                <a:spcPts val="100"/>
              </a:spcAft>
              <a:buSzPct val="100000"/>
              <a:buChar char="■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Karpathy's original LLM Wiki gist  ·  VentureBeat coverage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" y="3246120"/>
            <a:ext cx="5532120" cy="3017520"/>
          </a:xfrm>
          <a:prstGeom prst="rect">
            <a:avLst/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5400000">
              <a:srgbClr val="0F172A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" y="3246120"/>
            <a:ext cx="73152" cy="3017520"/>
          </a:xfrm>
          <a:prstGeom prst="rect">
            <a:avLst/>
          </a:prstGeom>
          <a:solidFill>
            <a:srgbClr val="0E7C8C"/>
          </a:solidFill>
          <a:ln w="12700">
            <a:solidFill>
              <a:srgbClr val="0E7C8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3337560"/>
            <a:ext cx="5166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500" kern="0" dirty="0">
                <a:solidFill>
                  <a:srgbClr val="0E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BENCHMARKS &amp; COMPARATIVE RESEARCH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68680" y="3630168"/>
            <a:ext cx="5029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"/>
              </a:spcAft>
              <a:buSzPct val="100000"/>
              <a:buChar char="■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GraphRAG vs Vector RAG accuracy — FalkorDB / Diffbot KG-LM</a:t>
            </a:r>
            <a:endParaRPr lang="en-US" sz="1050" dirty="0"/>
          </a:p>
          <a:p>
            <a:pPr marL="342900" indent="-342900">
              <a:spcAft>
                <a:spcPts val="100"/>
              </a:spcAft>
              <a:buSzPct val="100000"/>
              <a:buChar char="■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GraphRAG vs Vector RAG side-by-side — Meilisearch</a:t>
            </a:r>
            <a:endParaRPr lang="en-US" sz="1050" dirty="0"/>
          </a:p>
          <a:p>
            <a:pPr marL="342900" indent="-342900">
              <a:spcAft>
                <a:spcPts val="100"/>
              </a:spcAft>
              <a:buSzPct val="100000"/>
              <a:buChar char="■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Systematic eval: RAG vs GraphRAG (arXiv 2502.11371)</a:t>
            </a:r>
            <a:endParaRPr lang="en-US" sz="1050" dirty="0"/>
          </a:p>
          <a:p>
            <a:pPr marL="342900" indent="-342900">
              <a:spcAft>
                <a:spcPts val="100"/>
              </a:spcAft>
              <a:buSzPct val="100000"/>
              <a:buChar char="■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Graph–Enhanced RAG for Enterprise (Lund Univ. 2026 thesis)</a:t>
            </a:r>
            <a:endParaRPr lang="en-US" sz="1050" dirty="0"/>
          </a:p>
          <a:p>
            <a:pPr marL="342900" indent="-342900">
              <a:spcAft>
                <a:spcPts val="100"/>
              </a:spcAft>
              <a:buSzPct val="100000"/>
              <a:buChar char="■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 / Uber / Airbnb / Netflix KG patterns (Neo4j)</a:t>
            </a:r>
            <a:endParaRPr lang="en-US" sz="1050" dirty="0"/>
          </a:p>
          <a:p>
            <a:pPr marL="342900" indent="-342900">
              <a:spcAft>
                <a:spcPts val="100"/>
              </a:spcAft>
              <a:buSzPct val="100000"/>
              <a:buChar char="■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RAG enterprise adoption forecast 2026 (Lumenalta)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199632" y="3246120"/>
            <a:ext cx="5532120" cy="3017520"/>
          </a:xfrm>
          <a:prstGeom prst="rect">
            <a:avLst/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5400000">
              <a:srgbClr val="0F172A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199632" y="3246120"/>
            <a:ext cx="73152" cy="30175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28232" y="3337560"/>
            <a:ext cx="5166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5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REPO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611112" y="3630168"/>
            <a:ext cx="5029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"/>
              </a:spcAft>
              <a:buSzPct val="100000"/>
              <a:buChar char="■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CLAUDE.md  ·  ontology/*.yaml — schema (7·14·6)  ·  484 wiki pages</a:t>
            </a:r>
            <a:endParaRPr lang="en-US" sz="1050" dirty="0"/>
          </a:p>
          <a:p>
            <a:pPr marL="342900" indent="-342900">
              <a:spcAft>
                <a:spcPts val="100"/>
              </a:spcAft>
              <a:buSzPct val="100000"/>
              <a:buChar char="■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deep_agent.py — orchestrator (ingestor · researcher · linter · operator)</a:t>
            </a:r>
            <a:endParaRPr lang="en-US" sz="1050" dirty="0"/>
          </a:p>
          <a:p>
            <a:pPr marL="342900" indent="-342900">
              <a:spcAft>
                <a:spcPts val="100"/>
              </a:spcAft>
              <a:buSzPct val="100000"/>
              <a:buChar char="■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action_server.py — scoped, audited write surface (_check_scope)</a:t>
            </a:r>
            <a:endParaRPr lang="en-US" sz="1050" dirty="0"/>
          </a:p>
          <a:p>
            <a:pPr marL="342900" indent="-342900">
              <a:spcAft>
                <a:spcPts val="100"/>
              </a:spcAft>
              <a:buSzPct val="100000"/>
              <a:buChar char="■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lint_agent.py — frontmatter · orphans · contradictions · completeness</a:t>
            </a:r>
            <a:endParaRPr lang="en-US" sz="1050" dirty="0"/>
          </a:p>
          <a:p>
            <a:pPr marL="342900" indent="-342900">
              <a:spcAft>
                <a:spcPts val="100"/>
              </a:spcAft>
              <a:buSzPct val="100000"/>
              <a:buChar char="■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compile_graph.py — wiki/ → graph/kuzu.db  (regenerated, never edited)</a:t>
            </a:r>
            <a:endParaRPr lang="en-US" sz="1050" dirty="0"/>
          </a:p>
          <a:p>
            <a:pPr marL="342900" indent="-342900">
              <a:spcAft>
                <a:spcPts val="100"/>
              </a:spcAft>
              <a:buSzPct val="100000"/>
              <a:buChar char="■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intel_memo.py · precedent.py — Memo Engine + Decision search</a:t>
            </a:r>
            <a:endParaRPr lang="en-US" sz="1050" dirty="0"/>
          </a:p>
          <a:p>
            <a:pPr marL="342900" indent="-342900">
              <a:spcAft>
                <a:spcPts val="100"/>
              </a:spcAft>
              <a:buSzPct val="100000"/>
              <a:buChar char="■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decision_backfill.py · decision_replay.py — audit &amp; state reconstruction</a:t>
            </a:r>
            <a:endParaRPr lang="en-US" sz="1050" dirty="0"/>
          </a:p>
          <a:p>
            <a:pPr marL="342900" indent="-342900">
              <a:spcAft>
                <a:spcPts val="100"/>
              </a:spcAft>
              <a:buSzPct val="100000"/>
              <a:buChar char="■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llm.py — 6 providers (Moonshot · OpenAI · Gemini · OpenRouter · NVIDIA · DeepSeek)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57200" y="6446520"/>
            <a:ext cx="11277295" cy="10973"/>
          </a:xfrm>
          <a:prstGeom prst="rect">
            <a:avLst/>
          </a:prstGeom>
          <a:solidFill>
            <a:srgbClr val="E2E8F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Graphs  ·  Typed Knowledge for Enterprise AI Agents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362895" y="65105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12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11624767" y="6565392"/>
            <a:ext cx="91440" cy="914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Context Graphs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Context Graphs — Typed Knowledge for Enterprise AI Agents</dc:title>
  <dc:subject>Pitch deck</dc:subject>
  <dc:creator>Context Graphs</dc:creator>
  <cp:lastModifiedBy>Context Graphs</cp:lastModifiedBy>
  <cp:revision>1</cp:revision>
  <dcterms:created xsi:type="dcterms:W3CDTF">2026-05-04T14:19:48Z</dcterms:created>
  <dcterms:modified xsi:type="dcterms:W3CDTF">2026-05-04T14:19:48Z</dcterms:modified>
</cp:coreProperties>
</file>