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framing: most enterprises today have either (a) a pile of vector-indexed PDFs they call "RAG" or (b) a hand-curated knowledge graph nobody trusts. We propose a third architecture that combines the best of three industry patterns and produces something neither RAG nor a graph alone can deliver: an auditable, typed, governable substrate for agentic LLMs.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deck has one job: convince the exec that "RAG over our SharePoint" is not the right mental model for the next 3 years, and that this fused architecture is. The numbers are real and load-bearing. Mention: the gap is widest exactly where enterprise queries live — schema-bound, multi-entity, time-bounded.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disparage RAG — most enterprises started there for good reason. The point is that the next class of asks (structured, multi-hop, audited, time-bounded) needs a different substrate. The 80/15/5 split (simple lookup / structured reasoning / agentic) is roughly the consensus production pattern in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pattern is real and shipping. Karpathy's LLM Wiki gist (Apr 2026, ~50k+ stars) — quality gate before storage &gt; retrieval improvements. TrustGraph — "Context Operating System for AI"; PROV-O reasoning traces. Palantir Foundry/AIP — Ontology System; "digital twin of the organization." Our contribution: fuse them so the wiki is canonical, the graph is regenerable, and the ontology is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mutability rule is the architectural insight. RAG systems collapse into chaos because there's no canonical layer — the index is the source of truth, and rebuilding it is expensive. Here the wiki is plain markdown in git. Auditable, diffable, mergeable, and small enough to read end-to-end. Everything else is regenerable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 technical architecture. Walk it left-to-right, top-to-bottom. INGESTION: PDF/DOCX/XLSX land in raw/ via direct upload; ERP/CRM/SQL/Tickets/Web pulled via source_pull and connectors. document_parser.py turns binary documents into structured markdown + chunks + grounding + confidence; record_ingester.py handles tabular sources. Output cached in parsed/ keyed by source hash. The DeepAgent ingestor (LLM) reads parsed/ output, extracts entities/links/claims, validates against ontology (rejects unknown types), and writes via upsert_* tools — there is no freehand markdown path. wiki/ is the canonical store; compile_graph.py rebuilds graph/kuzu.db from wiki on every ingest. RETRIEVAL is hybrid: BM25 over the wiki body text PLUS Cypher over the typed graph, then a 1-hop expansion to pull in linked entities, then full-page reads, then LLM synthesis with cited passages and a retrieval trace. The bottom panel is the punchline: this architecture answers the query classes that pure-vector RAG and even agentic-RAG cannot — multi-hop typed traversal, cross-doc aggregation, temporal/bitemporal, provenance audit, counterfactual replay, regulator-grade derivation.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Every rule on this page is implemented in code today, not aspirational. Auditors and security people lean in here. The point: a layered architecture is a design diagram — guardrails are what make it survive contact with a real org. Walk the row, point to the file each rule lives in. The deck explicitly names the enforcer file in each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finance/compliance/ops people lean in. Each row is a real business capability they've been buying point solutions for. We deliver them on one substrate. The Memo Engine is not a toy — it's the demonstration that the architecture composes.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isn't "we invented this." The thesis is: the three patterns we fuse are independently validated by Microsoft, Palantir, the Karpathy/Obsidian community, TrustGraph, and the FAANG ML platforms. Our specific contribution is: the layered, regenerable, ontology-gated architecture that makes them composable in one repo with one team owning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use case that matches the audience. For a CIO of a bank: A. For a CFO/strategy lead: B. For a CRO/COO: C. They all run on the same wiki + graph + ontology. That's the multiplier — one platform investment, multiple business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to ship a real use case in 90 days, not to build the whole platform first. Tier-1 controls handle the first ~6 months. The ladder is your scaling story for the exec — we know how to scale this because we know what to add at each break point. That's the credibility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not the technology. Three resources, one named use case, one sponsor. If the room doesn't have a named use case yet, do not leave without scheduling the workshop to find one — the platform without a business outcome is a vanity project. Every metric on the KPI list is observable in this repo today (linter, audit log, retrieval traces, memo trace artifacts). Nothing on this slide is aspirational — it's all instrumented.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Citations consolidated for handout / follow-up. Each link is in the source markdown deck (docs/context_graphs_deck.md → Appendix).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2286000"/>
            <a:ext cx="7315200" cy="73152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 ·   MAY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Graphs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DD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Typed Knowledge for Enterprise AI Agents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LLM Wiki + TrustGraph Context Graph + Palantir Ontology — fused into one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983480"/>
            <a:ext cx="5029200" cy="1188720"/>
          </a:xfrm>
          <a:prstGeom prst="rect">
            <a:avLst/>
          </a:prstGeom>
          <a:solidFill>
            <a:srgbClr val="1A325E"/>
          </a:solidFill>
          <a:ln w="6350">
            <a:solidFill>
              <a:srgbClr val="29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98348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  ·  CIO  ·  Head of AI Platform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5760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One-day brief  ·  13-slide executive summary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4983480"/>
            <a:ext cx="3840480" cy="365760"/>
          </a:xfrm>
          <a:prstGeom prst="rect">
            <a:avLst/>
          </a:prstGeom>
          <a:solidFill>
            <a:srgbClr val="1A325E"/>
          </a:solidFill>
          <a:ln w="6350">
            <a:solidFill>
              <a:srgbClr val="2940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4983480"/>
            <a:ext cx="7315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2940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50200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  Agents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726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agents · audit-logged 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5394960"/>
            <a:ext cx="3840480" cy="365760"/>
          </a:xfrm>
          <a:prstGeom prst="rect">
            <a:avLst/>
          </a:prstGeom>
          <a:solidFill>
            <a:srgbClr val="1A325E"/>
          </a:solidFill>
          <a:ln w="6350">
            <a:solidFill>
              <a:srgbClr val="294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5394960"/>
            <a:ext cx="73152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2940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5431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  Ontology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2600" y="5440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Object · 14 Link · 6 Action types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5806440"/>
            <a:ext cx="3840480" cy="365760"/>
          </a:xfrm>
          <a:prstGeom prst="rect">
            <a:avLst/>
          </a:prstGeom>
          <a:solidFill>
            <a:srgbClr val="1A325E"/>
          </a:solidFill>
          <a:ln w="6350">
            <a:solidFill>
              <a:srgbClr val="2940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5806440"/>
            <a:ext cx="73152" cy="365760"/>
          </a:xfrm>
          <a:prstGeom prst="rect">
            <a:avLst/>
          </a:prstGeom>
          <a:solidFill>
            <a:srgbClr val="5EEAD4"/>
          </a:solidFill>
          <a:ln w="12700">
            <a:solidFill>
              <a:srgbClr val="2940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58430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 Wiki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5852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pages · git-versioned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·  EXECUTIVE SUMMARY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answer-the-question to do-the-work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365760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 vs 32%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8620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vs vector RAG accuracy on multi-hop questions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Diffbot KG-LM benchmark,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783080"/>
            <a:ext cx="3657600" cy="9144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−63%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26280" y="28620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ticket resolution time with KG-augmented retrieval (40h → 15h)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Neo4j case study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6576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783080"/>
            <a:ext cx="36576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0391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66760" y="28620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projected to run hybrid (vector + graph) retrieval by end of 2026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6676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/ industry surveys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23360"/>
            <a:ext cx="73152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416552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moved from "answer-the-question" to "do-the-work." Agents now propose actions on real systems. RAG alone cannot survive that bar — provenance, types, and governed write-back are the new baseline.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402336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402336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28232" y="4416552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context architecture: wiki is canonical, graph is derived, ontology is the schema contract, and the action server is the only mutation surface. One platform investment powers Q&amp;A, compliance, decision memos, and operational automation.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·  THE WALL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vector RAG alone hits a ceiling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007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the business asks for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49240" y="17007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0" y="17007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7568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every contract that touches GDPR"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0756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07568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system; cosine similarity is not a filter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1274552" cy="438912"/>
          </a:xfrm>
          <a:prstGeom prst="rect">
            <a:avLst/>
          </a:prstGeom>
          <a:solidFill>
            <a:srgbClr val="EE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146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Q4 numbers across our 3 reports"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251460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cross-document aggregation; no entity coreference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5351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decisions still depend on this retracted source?"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9535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95351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provenance graph; chunks have no lineage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92424"/>
            <a:ext cx="11274552" cy="438912"/>
          </a:xfrm>
          <a:prstGeom prst="rect">
            <a:avLst/>
          </a:prstGeom>
          <a:solidFill>
            <a:srgbClr val="EE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9242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the agent take this action?"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3924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39242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reasoning trace; embedding scores are not citations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31336"/>
            <a:ext cx="112745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3133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fact still true as of last quarter?"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8313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383133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model; embeddings are a-temporal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7315200" cy="1645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526280"/>
            <a:ext cx="91440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BENCHMARK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" y="4956048"/>
            <a:ext cx="6446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schema-bound enterprise questions (KPIs, aggregations, strategic-planning entities),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drops to 0% accuracy</a:t>
            </a:r>
            <a:pPr indent="0" marL="0">
              <a:buNone/>
            </a:pPr>
            <a:r>
              <a:rPr lang="en-US" sz="16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sustains 90%+</a:t>
            </a:r>
            <a:pPr indent="0" marL="0">
              <a:buNone/>
            </a:pPr>
            <a:r>
              <a:rPr lang="en-US" sz="16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" y="585216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Diffbot KG-LM benchmark, 2025  ·  FalkorDB SDK, 2025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55280" y="4526280"/>
            <a:ext cx="377647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55280" y="4526280"/>
            <a:ext cx="7315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4617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VECTOR RAG STILL WINS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56448" y="49194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8156448" y="5532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simple semantic lookups — keep it as the recall layer.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·  THE 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industry patterns, fused into one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72160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3721608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Karpathy LLM Wiki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KNOWLEDGE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15768"/>
            <a:ext cx="3218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frontmatter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LLM-maintained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at write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over 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1783080"/>
            <a:ext cx="372160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1783080"/>
            <a:ext cx="3721608" cy="77724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87452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TrustGraph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0288" y="224028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 — DERIVED 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36008" y="2715768"/>
            <a:ext cx="3218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nodes + edges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provenance chain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PROV-O reasoning traces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measurably down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66176" y="1783080"/>
            <a:ext cx="372160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1783080"/>
            <a:ext cx="37216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4776" y="187452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Palantir Ontology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94776" y="224028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ACTIONS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0496" y="2715768"/>
            <a:ext cx="32186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· Link · Action types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audited writes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the org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kinetic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80844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5332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8982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5212080"/>
            <a:ext cx="914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285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Graphs — one stack, three contracts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canonical</a:t>
            </a:r>
            <a:pPr indent="0" marL="0">
              <a:buNone/>
            </a:pPr>
            <a:r>
              <a:rPr lang="en-US" sz="13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derived</a:t>
            </a:r>
            <a:pPr indent="0" marL="0">
              <a:buNone/>
            </a:pPr>
            <a:r>
              <a:rPr lang="en-US" sz="13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gates writes</a:t>
            </a:r>
            <a:pPr indent="0" marL="0">
              <a:buNone/>
            </a:pPr>
            <a:r>
              <a:rPr lang="en-US" sz="13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wiki alone has no typed query, graph alone is brittle, ontology without data is paper.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294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 ·  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layers, one mutability rule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0408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777240" cy="55778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777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2880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828800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agents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 + action_server (scoped, audited)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70408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77440"/>
            <a:ext cx="777240" cy="5577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77440"/>
            <a:ext cx="777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42316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ontology/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423160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Obj · 14 Link · 6 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ontology first — back-fill L1 after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70408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71800"/>
            <a:ext cx="777240" cy="557784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71800"/>
            <a:ext cx="777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01752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017520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kuzu.db + audit.jsonl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017520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Regenerated from L1 — never hand-edited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70408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777240" cy="5577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66160"/>
            <a:ext cx="777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361188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3611880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pages (207·251·13)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611880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Canonical knowledge layer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70408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60520"/>
            <a:ext cx="777240" cy="5577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60520"/>
            <a:ext cx="777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L0.5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420624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parsed/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34640" y="4206240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cached parses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206240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L0 — re-parse, never edit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7040880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754880"/>
            <a:ext cx="777240" cy="55778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54880"/>
            <a:ext cx="777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25880" y="480060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raw/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834640" y="4800600"/>
            <a:ext cx="2011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source artifacts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800600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LLM reads only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680960" y="1783080"/>
            <a:ext cx="4050792" cy="21945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80960" y="1783080"/>
            <a:ext cx="9144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95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MAKES THIS SAFE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09560" y="21945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is canonical.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below regenerates from it.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909560" y="3108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the graph → recompile. Bad parse → re-parse. Bad LLM extraction → re-ingest with provenance preserved.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680960" y="4069080"/>
            <a:ext cx="405079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0" y="4069080"/>
            <a:ext cx="91440" cy="2240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0956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WIKI PAGE CARRIES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09560" y="44622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type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sources[]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confidence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updated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links[]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909560" y="5074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raw/ path or another wiki id.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90956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floating facts.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909560" y="5897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diffable, mergeable — and small enough to read end-to-end.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 ·  TECHNICAL ARCHITECTURE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 →  wiki + graph  →  answers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1274552" cy="237744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6276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builds wiki + graph from source artifacts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41732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6400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240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141732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87752"/>
            <a:ext cx="6400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5877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141732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35224"/>
            <a:ext cx="6400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93522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XLSX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141732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82696"/>
            <a:ext cx="640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2826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/ CRM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30168"/>
            <a:ext cx="141732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30168"/>
            <a:ext cx="640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630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/ Tickets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141732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77640"/>
            <a:ext cx="640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2377440"/>
            <a:ext cx="1097280" cy="1691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103120" y="2286000"/>
            <a:ext cx="1097280" cy="182880"/>
          </a:xfrm>
          <a:prstGeom prst="ellipse">
            <a:avLst/>
          </a:prstGeom>
          <a:solidFill>
            <a:srgbClr val="0F1F3D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250545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raw/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212848" y="277977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immutable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12848" y="2999232"/>
            <a:ext cx="8778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Source-of-truth artifacts. LLM reads only — never modifies.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74520" y="2386584"/>
            <a:ext cx="2286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874520" y="2734056"/>
            <a:ext cx="2286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74520" y="3081528"/>
            <a:ext cx="2286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874520" y="3429000"/>
            <a:ext cx="2286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874520" y="3776472"/>
            <a:ext cx="2286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874520" y="4123944"/>
            <a:ext cx="22860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474720" y="233172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0" y="2331720"/>
            <a:ext cx="2103120" cy="4572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document_parser.py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566160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XLSX → markdown + chunks + tables + grounding + confidence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74720" y="329184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474720" y="3291840"/>
            <a:ext cx="2103120" cy="4572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3383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record_ingester.py / source_pull/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566160" y="3675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manifest-driven CSV / Excel ingest  ·  depth-limited web crawler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2720340"/>
            <a:ext cx="274320" cy="0"/>
          </a:xfrm>
          <a:prstGeom prst="line">
            <a:avLst/>
          </a:prstGeom>
          <a:noFill/>
          <a:ln w="12700">
            <a:solidFill>
              <a:srgbClr val="0E7C8C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200400" y="3680460"/>
            <a:ext cx="274320" cy="0"/>
          </a:xfrm>
          <a:prstGeom prst="line">
            <a:avLst/>
          </a:prstGeom>
          <a:noFill/>
          <a:ln w="12700">
            <a:solidFill>
              <a:srgbClr val="0E7C8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852160" y="2377440"/>
            <a:ext cx="1097280" cy="1691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852160" y="2286000"/>
            <a:ext cx="1097280" cy="182880"/>
          </a:xfrm>
          <a:prstGeom prst="ellipse">
            <a:avLst/>
          </a:prstGeom>
          <a:solidFill>
            <a:srgbClr val="0F1F3D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61888" y="2505456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parsed/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961888" y="277977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61888" y="2999232"/>
            <a:ext cx="87782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Markdown + chunks. Per-file cache — re-parse only on change.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77840" y="2720340"/>
            <a:ext cx="274320" cy="0"/>
          </a:xfrm>
          <a:prstGeom prst="line">
            <a:avLst/>
          </a:prstGeom>
          <a:noFill/>
          <a:ln w="12700">
            <a:solidFill>
              <a:srgbClr val="0E7C8C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577840" y="3680460"/>
            <a:ext cx="274320" cy="0"/>
          </a:xfrm>
          <a:prstGeom prst="line">
            <a:avLst/>
          </a:prstGeom>
          <a:noFill/>
          <a:ln w="12700">
            <a:solidFill>
              <a:srgbClr val="0E7C8C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223760" y="2286000"/>
            <a:ext cx="1920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223760" y="2286000"/>
            <a:ext cx="1920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33488" y="23957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DeepAgent ingestor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7333488" y="267004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extraction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06640" y="29260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links, claims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validation (L3)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frontmatter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upsert_* (typed write only)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49440" y="3177540"/>
            <a:ext cx="274320" cy="0"/>
          </a:xfrm>
          <a:prstGeom prst="line">
            <a:avLst/>
          </a:prstGeom>
          <a:noFill/>
          <a:ln w="12700">
            <a:solidFill>
              <a:srgbClr val="0E7C8C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692640" y="2084832"/>
            <a:ext cx="2039112" cy="8686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692640" y="1993392"/>
            <a:ext cx="2039112" cy="182880"/>
          </a:xfrm>
          <a:prstGeom prst="ellipse">
            <a:avLst/>
          </a:prstGeom>
          <a:solidFill>
            <a:srgbClr val="0F1F3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02368" y="221284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wiki/  ·  L1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9802368" y="248716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484 pages  ·  207e·251c·13s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802368" y="2706624"/>
            <a:ext cx="18196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+ frontmatter, git-versioned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692640" y="3337560"/>
            <a:ext cx="2039112" cy="8229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9692640" y="3246120"/>
            <a:ext cx="2039112" cy="182880"/>
          </a:xfrm>
          <a:prstGeom prst="ellipse">
            <a:avLst/>
          </a:prstGeom>
          <a:solidFill>
            <a:srgbClr val="0F1F3D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802368" y="3465576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graph/  ·  L2</a:t>
            </a:r>
            <a:endParaRPr lang="en-US" sz="1250" dirty="0"/>
          </a:p>
        </p:txBody>
      </p:sp>
      <p:sp>
        <p:nvSpPr>
          <p:cNvPr id="69" name="Text 67"/>
          <p:cNvSpPr/>
          <p:nvPr/>
        </p:nvSpPr>
        <p:spPr>
          <a:xfrm>
            <a:off x="9802368" y="373989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kuzu.db  ·  audit.jsonl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802368" y="3959352"/>
            <a:ext cx="1819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nodes &amp; edges, regenerable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144000" y="2473452"/>
            <a:ext cx="548640" cy="0"/>
          </a:xfrm>
          <a:prstGeom prst="line">
            <a:avLst/>
          </a:prstGeom>
          <a:noFill/>
          <a:ln w="1587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9052560" y="21991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upsert_*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712196" y="2935224"/>
            <a:ext cx="0" cy="329184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9692640" y="2990088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compile_graph.py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7200" y="4297680"/>
            <a:ext cx="11274552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6928" y="4297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114800" y="4297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hybrid (BM25 over wiki  +  Cypher over graph) with provenance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4608576"/>
            <a:ext cx="16916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57200" y="4608576"/>
            <a:ext cx="169164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47000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548640" y="49926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agent / scheduled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148840" y="4946904"/>
            <a:ext cx="182880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2331720" y="4608576"/>
            <a:ext cx="2148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2331720" y="4608576"/>
            <a:ext cx="214884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423160" y="47000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retriever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2423160" y="499262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BM25(wiki) + Cypher(kuzu)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80560" y="4946904"/>
            <a:ext cx="182880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4663440" y="4608576"/>
            <a:ext cx="2011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663440" y="4608576"/>
            <a:ext cx="201168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0" y="4700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1-hop expansion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475488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traversal in kuzu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675120" y="4946904"/>
            <a:ext cx="182880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6858000" y="4608576"/>
            <a:ext cx="21945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6858000" y="4608576"/>
            <a:ext cx="219456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49440" y="47000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full wiki pages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6949440" y="49926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+ body + sources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052560" y="4946904"/>
            <a:ext cx="182880" cy="0"/>
          </a:xfrm>
          <a:prstGeom prst="line">
            <a:avLst/>
          </a:prstGeom>
          <a:noFill/>
          <a:ln w="158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9235440" y="4608576"/>
            <a:ext cx="24963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9235440" y="4608576"/>
            <a:ext cx="2496312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326880" y="4700016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synthesis</a:t>
            </a:r>
            <a:endParaRPr lang="en-US" sz="1150" dirty="0"/>
          </a:p>
        </p:txBody>
      </p:sp>
      <p:sp>
        <p:nvSpPr>
          <p:cNvPr id="101" name="Text 99"/>
          <p:cNvSpPr/>
          <p:nvPr/>
        </p:nvSpPr>
        <p:spPr>
          <a:xfrm>
            <a:off x="9326880" y="4992624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cited passages + retrieval_traces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57200" y="5376672"/>
            <a:ext cx="11274552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57200" y="5376672"/>
            <a:ext cx="914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13232" y="5431536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BEATS RAG / AGENTIC RAG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713232" y="56235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classes the wiki + graph answers — and pure-vector retrievers cannot: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713232" y="5833872"/>
            <a:ext cx="5408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typed traversal</a:t>
            </a:r>
            <a:pPr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9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contract that touches GDPR via a vendor we use"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213348" y="5833872"/>
            <a:ext cx="5408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 aggregation</a:t>
            </a:r>
            <a:pPr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9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 Q4 revenue across the 3 quarterly reports"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13232" y="6016752"/>
            <a:ext cx="5408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/ bitemporal</a:t>
            </a:r>
            <a:pPr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9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we believe about X as of Q3?"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213348" y="6016752"/>
            <a:ext cx="5408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audit</a:t>
            </a:r>
            <a:pPr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9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decisions still cite this retracted source?"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713232" y="6199632"/>
            <a:ext cx="5408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/ replay</a:t>
            </a:r>
            <a:pPr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9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decision_replay reconstructs state at any past decision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6213348" y="6199632"/>
            <a:ext cx="54086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Regulator-grade derivation</a:t>
            </a:r>
            <a:pPr indent="0" marL="0">
              <a:buNone/>
            </a:pPr>
            <a:r>
              <a:rPr lang="en-US" sz="90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90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→ wiki page → raw/ source → ingest timestamp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 ·  HARD GUARDRAILS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enforced in code — not policy docs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72160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37216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57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6596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WIKI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·  canonical knowledge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724912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Frontmatter is mandatory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rejects any page missing id/type/sources/confidence/updated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32841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291840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claim cites a source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353872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 path or wiki id required — no floating facts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85876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Typed write surface only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410565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created via upsert_entity / upsert_concept — never freehand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46227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62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425696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must exist in ontology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" y="46725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type → lint error. Add to L3 first, then back-fill L1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50292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4992624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Stale claims flagged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0120" y="523951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page.updated vs source.ingested_at compared on every lint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" y="5806440"/>
            <a:ext cx="33924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833872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" y="599846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lint_agent.py · tools.py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61688" y="1783080"/>
            <a:ext cx="372160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61688" y="1783080"/>
            <a:ext cx="37216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288" y="2057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⛨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01768" y="196596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001768" y="228600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·  the schema contract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44568" y="276148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44568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64608" y="2724912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ontology FIRST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864608" y="297180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types added to ontology/*.yaml before any page references them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44568" y="3328416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44568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64608" y="3291840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improvised actions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64608" y="353872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Action Type fits — stop. Propose adding one. Never write.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44568" y="3895344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44568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64608" y="385876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Types gate all writes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864608" y="410565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operational write goes through action_server.py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44568" y="4462272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44568" y="4462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64608" y="4425696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audit row per call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864608" y="46725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graph/audit.jsonl: actor · scopes · inputs · outcome · fingerprint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44568" y="5029200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44568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64608" y="4992624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gates declared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4864608" y="523951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requires_approval: true triggers human-in-the-loop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26280" y="5806440"/>
            <a:ext cx="33924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36008" y="5833872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636008" y="599846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action_server.py · _check_scope()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266176" y="1783080"/>
            <a:ext cx="372160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266176" y="1783080"/>
            <a:ext cx="3721608" cy="86868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94776" y="205740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94776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⛨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8906256" y="196596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GRAPH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8906256" y="228600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·  derived from L1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449056" y="2761488"/>
            <a:ext cx="256032" cy="25603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49056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769096" y="2724912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hand-edited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8769096" y="297180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kuzu.db is regenerated by compile_graph.py — no direct Cypher writes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449056" y="3328416"/>
            <a:ext cx="256032" cy="25603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49056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769096" y="3291840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preserved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769096" y="353872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carries its wiki id + raw/ source path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449056" y="3895344"/>
            <a:ext cx="256032" cy="25603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49056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769096" y="3858768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Snapshots are versioned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8769096" y="4105656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graph/snapshots/graph.jsonl  ·  decision_replay reconstructs state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449056" y="4462272"/>
            <a:ext cx="256032" cy="25603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49056" y="4462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769096" y="4425696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is logged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8769096" y="467258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graph/retrieval_traces.jsonl records every traversal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449056" y="5029200"/>
            <a:ext cx="256032" cy="256032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49056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769096" y="4992624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Lint blocks unsafe merges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8769096" y="5239512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review_queue.jsonl holds pages that fail completeness checks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8430768" y="5806440"/>
            <a:ext cx="3392424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40496" y="5833872"/>
            <a:ext cx="3172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540496" y="599846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compile_graph.py · decision_replay.py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57200" y="6355080"/>
            <a:ext cx="11274552" cy="914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 ·  CAPABILITIES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stack delivers that RAG cannot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55648"/>
            <a:ext cx="73152" cy="1207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2024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90195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Multi-hop typed traversal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2257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over kuzu.db (7.6 MB today) + 1-hop expansion in query_agent.py.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75564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755648"/>
            <a:ext cx="73152" cy="1207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920240"/>
            <a:ext cx="329184" cy="32918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90195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audit chain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232257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→ wiki page → raw/ source → parser confidence — visible per fact.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75564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755648"/>
            <a:ext cx="73152" cy="1207008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920240"/>
            <a:ext cx="329184" cy="32918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23960" y="190195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audit trail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32257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action_server invocation appends to graph/audit.jsonl with state fingerprint.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08152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81528"/>
            <a:ext cx="73152" cy="1207008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46120"/>
            <a:ext cx="329184" cy="329184"/>
          </a:xfrm>
          <a:prstGeom prst="ellipse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2278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replay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364845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decision_replay.py reconstructs world-state at any past decision for full re-derivation.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97680" y="308152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3081528"/>
            <a:ext cx="73152" cy="1207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32461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32278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Precedent search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26280" y="364845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precedent.py searches the typed Decision graph — "how did we decide this last time?"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38160" y="308152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38160" y="3081528"/>
            <a:ext cx="73152" cy="1207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66760" y="32461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23960" y="32278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Extraction-completeness lint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66760" y="364845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lint_agent flags numeric line items present in source but missing from wiki.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200" y="440740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407408"/>
            <a:ext cx="7315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457200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3000" y="45537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traces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5800" y="497433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graph/retrieval_traces.jsonl logs every traversal — auditable post-hoc.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297680" y="440740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297680" y="4407408"/>
            <a:ext cx="7315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26280" y="457200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83480" y="45537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 + visualize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526280" y="497433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graph/snapshots/graph.jsonl + visualize_graph.py renders interactive + GraphML.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138160" y="4407408"/>
            <a:ext cx="3721608" cy="120700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138160" y="4407408"/>
            <a:ext cx="73152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66760" y="457200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66760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823960" y="45537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LLM stack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366760" y="497433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providers wired (Moonshot · OpenAI · Gemini · OpenRouter · NVIDIA · DeepSeek).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57200" y="5733288"/>
            <a:ext cx="11274552" cy="777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7200" y="5733288"/>
            <a:ext cx="914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592531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this repo today: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wiki pages  ·  21 agents  ·  audit trail  ·  decision replay</a:t>
            </a:r>
            <a:pPr indent="0" marL="0">
              <a:buNone/>
            </a:pPr>
            <a:r>
              <a:rPr lang="en-US" sz="14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every capability above is shipping code, not roadmap.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 ·  INDUSTRY VALIDATION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independent signals — same direction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1274552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55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59152" y="17556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70832" y="175564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ship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59952" y="1755648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signal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112745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39696"/>
            <a:ext cx="73152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396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Palantir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59152" y="213969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+ AIP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0832" y="213969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= digital twin of the organization; semantic + kinetic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59952" y="2139696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AIP Document Intelligence GA  ·  Feb 2026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11274552" cy="566928"/>
          </a:xfrm>
          <a:prstGeom prst="rect">
            <a:avLst/>
          </a:prstGeom>
          <a:solidFill>
            <a:srgbClr val="EE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06624"/>
            <a:ext cx="73152" cy="566928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70662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59152" y="270662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70832" y="270662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community summaries over LLM-extracted KG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59952" y="270662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3.4× QA accuracy gain  ·  shipping in Azure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73552"/>
            <a:ext cx="112745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73552"/>
            <a:ext cx="73152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2735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TrustGraph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59152" y="32735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70832" y="327355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Operating System; 4-level provenance; PROV-O traces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59952" y="327355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Context Graphs  ·  portable cores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11274552" cy="566928"/>
          </a:xfrm>
          <a:prstGeom prst="rect">
            <a:avLst/>
          </a:prstGeom>
          <a:solidFill>
            <a:srgbClr val="EE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40480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8404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Karpathy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59152" y="38404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Wiki gist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70832" y="384048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markdown maintained by the LLM; compounds over time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59952" y="38404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  ·  Obsidian / Claude Code variants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407408"/>
            <a:ext cx="112745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407408"/>
            <a:ext cx="7315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4074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359152" y="44074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over support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70832" y="440740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KG-augmented retrieval on tickets + customer KG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759952" y="4407408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40h → 15h ticket resolution  (−63%)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4974336"/>
            <a:ext cx="11274552" cy="566928"/>
          </a:xfrm>
          <a:prstGeom prst="rect">
            <a:avLst/>
          </a:prstGeom>
          <a:solidFill>
            <a:srgbClr val="EE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974336"/>
            <a:ext cx="73152" cy="5669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49743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· Airbnb · Netflix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59152" y="49743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70832" y="497433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Knowledge-graph-backed feature stores + discovery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759952" y="4974336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(vector + graph) is the default pattern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5724144"/>
            <a:ext cx="11274552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5724144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direction (2026):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= default. Pure-vector RAG is a 2024 pattern.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·  USE CASES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enterprise outcomes on the same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72160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3721608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1947672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Audit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3500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355848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26080"/>
            <a:ext cx="4572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90088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“For every claim in our quarterly disclosure, show the source, ingest timestamp, parser confidence, and ontology version.”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3218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chain produces a regulator-grade derivation per claim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flags stale derivations and contradicting concepts before filing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proves who invoked which write, when, with which approval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61688" y="1783080"/>
            <a:ext cx="372160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1688" y="1783080"/>
            <a:ext cx="3721608" cy="96012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19659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21808" y="1947672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Decision-Support Memos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21808" y="23500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M&amp;A · BD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44568" y="2926080"/>
            <a:ext cx="3355848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44568" y="2926080"/>
            <a:ext cx="45720" cy="141732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990088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“Build a 2-hop intelligence memo on Acme Corp: cited evidence, contradictions, freshness, derived metrics.”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36008" y="4480560"/>
            <a:ext cx="3218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Memo Engine runs in seconds with no LLM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typed Memo wiki page + machine-replayable JSON trace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nightly; alerts on net-new contradictions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66176" y="1783080"/>
            <a:ext cx="3721608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66176" y="1783080"/>
            <a:ext cx="37216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94776" y="19659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94776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26296" y="1947672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Agentic Operations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26296" y="235000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SUPPORT · OPS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49056" y="2926080"/>
            <a:ext cx="3355848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49056" y="2926080"/>
            <a:ext cx="457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86216" y="2990088"/>
            <a:ext cx="31729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“Let agents propose actions — but only ones the ontology allows, with audit trails.”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0496" y="4480560"/>
            <a:ext cx="3218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Types are the only write surface (create_customer, escalate_ticket, 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approval gates enforced server-side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server emits one audit row per call; agents cannot bypass 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·  ADOPTION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0–30 already built — what the pilot adds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11091672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0507" y="2468880"/>
            <a:ext cx="329184" cy="32918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0507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4939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 ✓ DONE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219" y="2971800"/>
            <a:ext cx="265176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219" y="297180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659" y="3081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repo standing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0659" y="34747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 · graph/ · ontology/ · agents/  ·  6 LLM providers wired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43425" y="2468880"/>
            <a:ext cx="329184" cy="329184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3425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7857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 ✓ DONE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2137" y="2971800"/>
            <a:ext cx="265176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2137" y="297180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3577" y="3081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corpus ingested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3577" y="34747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pages · 24 sources  ·  Ontology v1 (7 · 14 · 6)  ·  audit log live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6343" y="2468880"/>
            <a:ext cx="329184" cy="32918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6343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00775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55055" y="2971800"/>
            <a:ext cx="265176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55055" y="2971800"/>
            <a:ext cx="26517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6495" y="3081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use case starts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6495" y="34747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A, B, or C  ·  Memo Engine + decision_replay against pilot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89261" y="24688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89261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973693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27973" y="2971800"/>
            <a:ext cx="265176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927973" y="297180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19413" y="3081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in production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19413" y="34747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reviewed  ·  tier-up plan triggered as the corpus scales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11274552" cy="19202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controls — 8-tier ladder, adopted on demand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4360" y="504748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1560" y="49834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Query-side filters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" y="5248656"/>
            <a:ext cx="2269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half a day's work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67278" y="504748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7278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24478" y="49834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partitioning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824478" y="5248656"/>
            <a:ext cx="2269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source classes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40196" y="504748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0196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97396" y="49834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synthesis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97396" y="5248656"/>
            <a:ext cx="2269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500 pages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913114" y="504748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13114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370314" y="498348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Centrality &amp; PageRank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370314" y="5248656"/>
            <a:ext cx="2269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1k nodes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4360" y="571042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57104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51560" y="564642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weights &amp; pruning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51560" y="5911596"/>
            <a:ext cx="2269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get noisy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367278" y="571042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67278" y="57104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824478" y="564642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Bitemporal valid_from/_to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824478" y="5911596"/>
            <a:ext cx="2269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time conflicts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40196" y="571042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40196" y="57104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597396" y="564642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 versioning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597396" y="5911596"/>
            <a:ext cx="2269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starts sprawling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913114" y="571042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13114" y="57104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9370314" y="5646420"/>
            <a:ext cx="2269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Tenancy / multi-overlay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370314" y="5911596"/>
            <a:ext cx="22699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Multi-BU rollout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294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-2743200"/>
            <a:ext cx="7315200" cy="73152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 ·  CLOSING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ask, the risks, the scoreboard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721608" cy="4343400"/>
          </a:xfrm>
          <a:prstGeom prst="rect">
            <a:avLst/>
          </a:prstGeom>
          <a:solidFill>
            <a:srgbClr val="152A52"/>
          </a:solidFill>
          <a:ln w="10160">
            <a:solidFill>
              <a:srgbClr val="294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37216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+ use case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715768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exec, one bounded business problem, 90-day pilot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35584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310128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602736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+ one domain SME for the pilot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24281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197096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489704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set + one record table (CSV / SQL extract)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12978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5084064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376672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scope · designate sponsor · schedule month-2 KPI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61688" y="1783080"/>
            <a:ext cx="3721608" cy="4343400"/>
          </a:xfrm>
          <a:prstGeom prst="rect">
            <a:avLst/>
          </a:prstGeom>
          <a:solidFill>
            <a:srgbClr val="152A52"/>
          </a:solidFill>
          <a:ln w="10160">
            <a:solidFill>
              <a:srgbClr val="2940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1688" y="1783080"/>
            <a:ext cx="3721608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187452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0288" y="24231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0328" y="2423160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Ontology violations from LLM ingestion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0328" y="269748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Linter blocks merge; ontology-first edits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90288" y="31363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0328" y="313639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complexity overwhelms users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3410712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8-tier ladder; domain partitioning + memo rollups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90288" y="38496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10328" y="384962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lock-in (LLM provider)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0328" y="41239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Pluggable: 6 providers wired today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90288" y="45628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10328" y="456285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Hallucinated citations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0328" y="483717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"No floating facts" rule enforced by upsert tools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90288" y="5276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10328" y="527608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Bitemporal complexity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10328" y="555040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Optional Tier-6; not required day 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66176" y="1783080"/>
            <a:ext cx="3465576" cy="4343400"/>
          </a:xfrm>
          <a:prstGeom prst="rect">
            <a:avLst/>
          </a:prstGeom>
          <a:solidFill>
            <a:srgbClr val="152A52"/>
          </a:solidFill>
          <a:ln w="10160">
            <a:solidFill>
              <a:srgbClr val="2940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66176" y="1783080"/>
            <a:ext cx="346557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49056" y="18745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WE'LL TRACK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94776" y="2478024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69096" y="242316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Time-to-answer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69096" y="26974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90-day delta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494776" y="3191256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69096" y="31363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rate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69096" y="341071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answers with grounded link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94776" y="3904488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69096" y="384962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Lint clean-rate at merge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769096" y="4123944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pages passing all checks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494776" y="461772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69096" y="45628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completeness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769096" y="4837176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target on action server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494776" y="5330952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69096" y="5276088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 queries via graph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769096" y="555040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D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toward graph by month 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7200" y="6263640"/>
            <a:ext cx="1127455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294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SOURCES &amp; FURTHER READING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64008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brief draws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REFERENCES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075688"/>
            <a:ext cx="10771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Foundry Ontology overview  ·  AIP architecture  ·  Feb 2026 announcements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GraphRAG project + GitHub (microsoft/graphrag)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TrustGraph — Context Operating System; Ontologies and Context Graphs guide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Karpathy's original LLM Wiki gist  ·  VentureBeat coverage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55321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46120"/>
            <a:ext cx="73152" cy="3017520"/>
          </a:xfrm>
          <a:prstGeom prst="rect">
            <a:avLst/>
          </a:prstGeom>
          <a:solidFill>
            <a:srgbClr val="0E7C8C"/>
          </a:solidFill>
          <a:ln w="12700">
            <a:solidFill>
              <a:srgbClr val="0E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375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0E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COMPARATIVE RESEARCH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630168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vs Vector RAG accuracy — FalkorDB / Diffbot KG-LM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vs Vector RAG side-by-side — Meilisearch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eval: RAG vs GraphRAG (arXiv 2502.11371)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Graph–Enhanced RAG for Enterprise (Lund Univ. 2026 thesis)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Uber / Airbnb / Netflix KG patterns (Neo4j)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enterprise adoption forecast 2026 (Lumenalta)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3246120"/>
            <a:ext cx="55321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3246120"/>
            <a:ext cx="73152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3375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1112" y="3630168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 ·  ontology/*.yaml — schema (7·14·6)  ·  484 wiki pages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deep_agent.py — orchestrator (ingestor · researcher · linter · operator)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action_server.py — scoped, audited write surface (_check_scope)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lint_agent.py — frontmatter · orphans · contradictions · completeness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compile_graph.py — wiki/ → graph/kuzu.db  (regenerated, never edited)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intel_memo.py · precedent.py — Memo Engine + Decision search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decision_backfill.py · decision_replay.py — audit &amp; state reconstruction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llm.py — 6 providers (Moonshot · OpenAI · Gemini · OpenRouter · NVIDIA · DeepSeek)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Graphs  ·  Typed Knowledge for Enterprise AI Agents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624767" y="6565392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Context Graphs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Graphs — Typed Knowledge for Enterprise AI Agents</dc:title>
  <dc:subject>Pitch deck</dc:subject>
  <dc:creator>Context Graphs</dc:creator>
  <cp:lastModifiedBy>Context Graphs</cp:lastModifiedBy>
  <cp:revision>1</cp:revision>
  <dcterms:created xsi:type="dcterms:W3CDTF">2026-05-05T05:02:43Z</dcterms:created>
  <dcterms:modified xsi:type="dcterms:W3CDTF">2026-05-05T05:02:43Z</dcterms:modified>
</cp:coreProperties>
</file>